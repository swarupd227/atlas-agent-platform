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7" d="100"/>
          <a:sy n="97" d="100"/>
        </p:scale>
        <p:origin x="393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9328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7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6A7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AS-IS: Application Onboarding &amp; Identity Processing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Manual Process  |  Human Analyst Workflow  |  Aquera → SailPoint → Brainwave/RadiantOne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280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6A7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PIPELINE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2377440" cy="868680"/>
          </a:xfrm>
          <a:prstGeom prst="rect">
            <a:avLst/>
          </a:prstGeom>
          <a:solidFill>
            <a:srgbClr val="00897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70992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67712" y="1636776"/>
            <a:ext cx="320040" cy="2286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47472" y="196504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AQUERA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29184" y="216484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onboarded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&amp; entitlements discovered</a:t>
            </a:r>
            <a:endParaRPr lang="en-US" sz="7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1920240"/>
            <a:ext cx="201168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108960" y="1600200"/>
            <a:ext cx="2560320" cy="868680"/>
          </a:xfrm>
          <a:prstGeom prst="rect">
            <a:avLst/>
          </a:prstGeom>
          <a:solidFill>
            <a:srgbClr val="1565C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8688" y="1709928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85232" y="1636776"/>
            <a:ext cx="320040" cy="2286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3182112" y="196504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SAILPOINT IIQ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3163824" y="2164842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data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provisioning workflows</a:t>
            </a:r>
            <a:endParaRPr lang="en-US" sz="7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1920240"/>
            <a:ext cx="201168" cy="20116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126480" y="1600200"/>
            <a:ext cx="2560320" cy="868680"/>
          </a:xfrm>
          <a:prstGeom prst="rect">
            <a:avLst/>
          </a:prstGeom>
          <a:solidFill>
            <a:srgbClr val="6A1B9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1709928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302752" y="1636776"/>
            <a:ext cx="320040" cy="2286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6199632" y="196504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BRAINWAVE / RADIANTONE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6181344" y="2164842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recertification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360° identity visibility</a:t>
            </a:r>
            <a:endParaRPr lang="en-US" sz="750" dirty="0"/>
          </a:p>
        </p:txBody>
      </p:sp>
      <p:sp>
        <p:nvSpPr>
          <p:cNvPr id="23" name="Shape 16"/>
          <p:cNvSpPr/>
          <p:nvPr/>
        </p:nvSpPr>
        <p:spPr>
          <a:xfrm>
            <a:off x="274320" y="2697480"/>
            <a:ext cx="8412480" cy="9144"/>
          </a:xfrm>
          <a:prstGeom prst="rect">
            <a:avLst/>
          </a:prstGeom>
          <a:solidFill>
            <a:srgbClr val="C6A74E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7"/>
          <p:cNvSpPr/>
          <p:nvPr/>
        </p:nvSpPr>
        <p:spPr>
          <a:xfrm>
            <a:off x="274320" y="2788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6A7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ANALYST WORKFLOW (PER APPLICATION)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274320" y="3108960"/>
            <a:ext cx="1371600" cy="914400"/>
          </a:xfrm>
          <a:prstGeom prst="rect">
            <a:avLst/>
          </a:prstGeom>
          <a:solidFill>
            <a:srgbClr val="34495E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3218688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261872" y="3145536"/>
            <a:ext cx="320040" cy="2286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347472" y="3493008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Receives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 Task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329184" y="3794760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SailPoint creates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workflow task</a:t>
            </a:r>
            <a:endParaRPr lang="en-US" sz="75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60" y="3474720"/>
            <a:ext cx="201168" cy="201168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1783080" y="3108960"/>
            <a:ext cx="1371600" cy="914400"/>
          </a:xfrm>
          <a:prstGeom prst="rect">
            <a:avLst/>
          </a:prstGeom>
          <a:solidFill>
            <a:srgbClr val="34495E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92808" y="3218688"/>
            <a:ext cx="292608" cy="29260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2770632" y="3145536"/>
            <a:ext cx="320040" cy="2286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900" dirty="0"/>
          </a:p>
        </p:txBody>
      </p:sp>
      <p:sp>
        <p:nvSpPr>
          <p:cNvPr id="34" name="Text 24"/>
          <p:cNvSpPr/>
          <p:nvPr/>
        </p:nvSpPr>
        <p:spPr>
          <a:xfrm>
            <a:off x="1856232" y="3493008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000" dirty="0"/>
          </a:p>
        </p:txBody>
      </p:sp>
      <p:sp>
        <p:nvSpPr>
          <p:cNvPr id="35" name="Text 25"/>
          <p:cNvSpPr/>
          <p:nvPr/>
        </p:nvSpPr>
        <p:spPr>
          <a:xfrm>
            <a:off x="1837944" y="3806067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identity,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details</a:t>
            </a:r>
            <a:endParaRPr lang="en-US" sz="75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3474720"/>
            <a:ext cx="201168" cy="201168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3291840" y="3108960"/>
            <a:ext cx="1371600" cy="914400"/>
          </a:xfrm>
          <a:prstGeom prst="rect">
            <a:avLst/>
          </a:prstGeom>
          <a:solidFill>
            <a:srgbClr val="34495E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1568" y="3218688"/>
            <a:ext cx="292608" cy="292608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4279392" y="3145536"/>
            <a:ext cx="320040" cy="2286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900" dirty="0"/>
          </a:p>
        </p:txBody>
      </p:sp>
      <p:sp>
        <p:nvSpPr>
          <p:cNvPr id="40" name="Text 28"/>
          <p:cNvSpPr/>
          <p:nvPr/>
        </p:nvSpPr>
        <p:spPr>
          <a:xfrm>
            <a:off x="3364992" y="3493008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41" name="Text 29"/>
          <p:cNvSpPr/>
          <p:nvPr/>
        </p:nvSpPr>
        <p:spPr>
          <a:xfrm>
            <a:off x="3354177" y="3783551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SoD rules, policies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(from memory/docs)</a:t>
            </a:r>
            <a:endParaRPr lang="en-US" sz="750" dirty="0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474720"/>
            <a:ext cx="201168" cy="201168"/>
          </a:xfrm>
          <a:prstGeom prst="rect">
            <a:avLst/>
          </a:prstGeom>
        </p:spPr>
      </p:pic>
      <p:sp>
        <p:nvSpPr>
          <p:cNvPr id="43" name="Shape 30"/>
          <p:cNvSpPr/>
          <p:nvPr/>
        </p:nvSpPr>
        <p:spPr>
          <a:xfrm>
            <a:off x="4800600" y="3108960"/>
            <a:ext cx="1371600" cy="914400"/>
          </a:xfrm>
          <a:prstGeom prst="rect">
            <a:avLst/>
          </a:prstGeom>
          <a:solidFill>
            <a:srgbClr val="34495E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328" y="3218688"/>
            <a:ext cx="292608" cy="292608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5788152" y="3145536"/>
            <a:ext cx="320040" cy="2286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900" dirty="0"/>
          </a:p>
        </p:txBody>
      </p:sp>
      <p:sp>
        <p:nvSpPr>
          <p:cNvPr id="46" name="Text 32"/>
          <p:cNvSpPr/>
          <p:nvPr/>
        </p:nvSpPr>
        <p:spPr>
          <a:xfrm>
            <a:off x="4873752" y="3493008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Manually</a:t>
            </a:r>
            <a:endParaRPr lang="en-US" sz="1000" dirty="0"/>
          </a:p>
        </p:txBody>
      </p:sp>
      <p:sp>
        <p:nvSpPr>
          <p:cNvPr id="47" name="Text 33"/>
          <p:cNvSpPr/>
          <p:nvPr/>
        </p:nvSpPr>
        <p:spPr>
          <a:xfrm>
            <a:off x="4870410" y="3789942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into target app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Creates/modifies access</a:t>
            </a:r>
            <a:endParaRPr lang="en-US" sz="750" dirty="0"/>
          </a:p>
        </p:txBody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474720"/>
            <a:ext cx="201168" cy="201168"/>
          </a:xfrm>
          <a:prstGeom prst="rect">
            <a:avLst/>
          </a:prstGeom>
        </p:spPr>
      </p:pic>
      <p:sp>
        <p:nvSpPr>
          <p:cNvPr id="49" name="Shape 34"/>
          <p:cNvSpPr/>
          <p:nvPr/>
        </p:nvSpPr>
        <p:spPr>
          <a:xfrm>
            <a:off x="6309360" y="3108960"/>
            <a:ext cx="1371600" cy="914400"/>
          </a:xfrm>
          <a:prstGeom prst="rect">
            <a:avLst/>
          </a:prstGeom>
          <a:solidFill>
            <a:srgbClr val="34495E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0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9088" y="3218688"/>
            <a:ext cx="292608" cy="292608"/>
          </a:xfrm>
          <a:prstGeom prst="rect">
            <a:avLst/>
          </a:prstGeom>
        </p:spPr>
      </p:pic>
      <p:sp>
        <p:nvSpPr>
          <p:cNvPr id="51" name="Text 35"/>
          <p:cNvSpPr/>
          <p:nvPr/>
        </p:nvSpPr>
        <p:spPr>
          <a:xfrm>
            <a:off x="7296912" y="3145536"/>
            <a:ext cx="320040" cy="2286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900" dirty="0"/>
          </a:p>
        </p:txBody>
      </p:sp>
      <p:sp>
        <p:nvSpPr>
          <p:cNvPr id="52" name="Text 36"/>
          <p:cNvSpPr/>
          <p:nvPr/>
        </p:nvSpPr>
        <p:spPr>
          <a:xfrm>
            <a:off x="6382512" y="3493008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Closes</a:t>
            </a:r>
            <a:endParaRPr lang="en-US" sz="1000" dirty="0"/>
          </a:p>
        </p:txBody>
      </p:sp>
      <p:sp>
        <p:nvSpPr>
          <p:cNvPr id="53" name="Text 37"/>
          <p:cNvSpPr/>
          <p:nvPr/>
        </p:nvSpPr>
        <p:spPr>
          <a:xfrm>
            <a:off x="6364224" y="3783551"/>
            <a:ext cx="1261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target system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 SailPoint task</a:t>
            </a:r>
            <a:endParaRPr lang="en-US" sz="750" dirty="0"/>
          </a:p>
        </p:txBody>
      </p:sp>
      <p:sp>
        <p:nvSpPr>
          <p:cNvPr id="54" name="Shape 38"/>
          <p:cNvSpPr/>
          <p:nvPr/>
        </p:nvSpPr>
        <p:spPr>
          <a:xfrm>
            <a:off x="7818120" y="3108960"/>
            <a:ext cx="914400" cy="914400"/>
          </a:xfrm>
          <a:prstGeom prst="rect">
            <a:avLst/>
          </a:prstGeom>
          <a:solidFill>
            <a:srgbClr val="546E7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5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27848" y="3218688"/>
            <a:ext cx="292608" cy="292608"/>
          </a:xfrm>
          <a:prstGeom prst="rect">
            <a:avLst/>
          </a:prstGeom>
        </p:spPr>
      </p:pic>
      <p:sp>
        <p:nvSpPr>
          <p:cNvPr id="56" name="Text 39"/>
          <p:cNvSpPr/>
          <p:nvPr/>
        </p:nvSpPr>
        <p:spPr>
          <a:xfrm>
            <a:off x="7891272" y="3493008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</a:t>
            </a:r>
            <a:endParaRPr lang="en-US" sz="1000" dirty="0"/>
          </a:p>
        </p:txBody>
      </p:sp>
      <p:sp>
        <p:nvSpPr>
          <p:cNvPr id="57" name="Text 40"/>
          <p:cNvSpPr/>
          <p:nvPr/>
        </p:nvSpPr>
        <p:spPr>
          <a:xfrm>
            <a:off x="7872984" y="3703320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tracking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approvals</a:t>
            </a:r>
            <a:endParaRPr lang="en-US" sz="750" dirty="0"/>
          </a:p>
        </p:txBody>
      </p:sp>
      <p:sp>
        <p:nvSpPr>
          <p:cNvPr id="58" name="Shape 41"/>
          <p:cNvSpPr/>
          <p:nvPr/>
        </p:nvSpPr>
        <p:spPr>
          <a:xfrm>
            <a:off x="274320" y="4251960"/>
            <a:ext cx="8412480" cy="9144"/>
          </a:xfrm>
          <a:prstGeom prst="rect">
            <a:avLst/>
          </a:prstGeom>
          <a:solidFill>
            <a:srgbClr val="C0392B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42"/>
          <p:cNvSpPr/>
          <p:nvPr/>
        </p:nvSpPr>
        <p:spPr>
          <a:xfrm>
            <a:off x="274320" y="4370832"/>
            <a:ext cx="2011680" cy="658368"/>
          </a:xfrm>
          <a:prstGeom prst="rect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0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7472" y="4407408"/>
            <a:ext cx="182880" cy="182880"/>
          </a:xfrm>
          <a:prstGeom prst="rect">
            <a:avLst/>
          </a:prstGeom>
        </p:spPr>
      </p:pic>
      <p:sp>
        <p:nvSpPr>
          <p:cNvPr id="61" name="Text 43"/>
          <p:cNvSpPr/>
          <p:nvPr/>
        </p:nvSpPr>
        <p:spPr>
          <a:xfrm>
            <a:off x="566928" y="43891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 per task</a:t>
            </a:r>
            <a:endParaRPr lang="en-US" sz="900" dirty="0"/>
          </a:p>
        </p:txBody>
      </p:sp>
      <p:sp>
        <p:nvSpPr>
          <p:cNvPr id="62" name="Text 44"/>
          <p:cNvSpPr/>
          <p:nvPr/>
        </p:nvSpPr>
        <p:spPr>
          <a:xfrm>
            <a:off x="347472" y="4626864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login to each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application</a:t>
            </a:r>
            <a:endParaRPr lang="en-US" sz="750" dirty="0"/>
          </a:p>
        </p:txBody>
      </p:sp>
      <p:sp>
        <p:nvSpPr>
          <p:cNvPr id="63" name="Shape 45"/>
          <p:cNvSpPr/>
          <p:nvPr/>
        </p:nvSpPr>
        <p:spPr>
          <a:xfrm>
            <a:off x="2423160" y="4370832"/>
            <a:ext cx="2011680" cy="658368"/>
          </a:xfrm>
          <a:prstGeom prst="rect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4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96312" y="4407408"/>
            <a:ext cx="182880" cy="182880"/>
          </a:xfrm>
          <a:prstGeom prst="rect">
            <a:avLst/>
          </a:prstGeom>
        </p:spPr>
      </p:pic>
      <p:sp>
        <p:nvSpPr>
          <p:cNvPr id="65" name="Text 46"/>
          <p:cNvSpPr/>
          <p:nvPr/>
        </p:nvSpPr>
        <p:spPr>
          <a:xfrm>
            <a:off x="2715768" y="43891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~$35 per application</a:t>
            </a:r>
            <a:endParaRPr lang="en-US" sz="900" dirty="0"/>
          </a:p>
        </p:txBody>
      </p:sp>
      <p:sp>
        <p:nvSpPr>
          <p:cNvPr id="66" name="Text 47"/>
          <p:cNvSpPr/>
          <p:nvPr/>
        </p:nvSpPr>
        <p:spPr>
          <a:xfrm>
            <a:off x="2496312" y="4626864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Salary-loaded analyst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per transaction</a:t>
            </a:r>
            <a:endParaRPr lang="en-US" sz="750" dirty="0"/>
          </a:p>
        </p:txBody>
      </p:sp>
      <p:sp>
        <p:nvSpPr>
          <p:cNvPr id="67" name="Shape 48"/>
          <p:cNvSpPr/>
          <p:nvPr/>
        </p:nvSpPr>
        <p:spPr>
          <a:xfrm>
            <a:off x="4572000" y="4370832"/>
            <a:ext cx="2011680" cy="658368"/>
          </a:xfrm>
          <a:prstGeom prst="rect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8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45152" y="4407408"/>
            <a:ext cx="182880" cy="182880"/>
          </a:xfrm>
          <a:prstGeom prst="rect">
            <a:avLst/>
          </a:prstGeom>
        </p:spPr>
      </p:pic>
      <p:sp>
        <p:nvSpPr>
          <p:cNvPr id="69" name="Text 49"/>
          <p:cNvSpPr/>
          <p:nvPr/>
        </p:nvSpPr>
        <p:spPr>
          <a:xfrm>
            <a:off x="4864608" y="43891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Error-prone compliance</a:t>
            </a:r>
            <a:endParaRPr lang="en-US" sz="900" dirty="0"/>
          </a:p>
        </p:txBody>
      </p:sp>
      <p:sp>
        <p:nvSpPr>
          <p:cNvPr id="70" name="Text 50"/>
          <p:cNvSpPr/>
          <p:nvPr/>
        </p:nvSpPr>
        <p:spPr>
          <a:xfrm>
            <a:off x="4645152" y="4626864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SoD checks from memory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dual validation</a:t>
            </a:r>
            <a:endParaRPr lang="en-US" sz="750" dirty="0"/>
          </a:p>
        </p:txBody>
      </p:sp>
      <p:sp>
        <p:nvSpPr>
          <p:cNvPr id="71" name="Shape 51"/>
          <p:cNvSpPr/>
          <p:nvPr/>
        </p:nvSpPr>
        <p:spPr>
          <a:xfrm>
            <a:off x="6720840" y="4370832"/>
            <a:ext cx="2011680" cy="658368"/>
          </a:xfrm>
          <a:prstGeom prst="rect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2" name="Image 1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93992" y="4407408"/>
            <a:ext cx="182880" cy="182880"/>
          </a:xfrm>
          <a:prstGeom prst="rect">
            <a:avLst/>
          </a:prstGeom>
        </p:spPr>
      </p:pic>
      <p:sp>
        <p:nvSpPr>
          <p:cNvPr id="73" name="Text 52"/>
          <p:cNvSpPr/>
          <p:nvPr/>
        </p:nvSpPr>
        <p:spPr>
          <a:xfrm>
            <a:off x="7013448" y="43891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provenance trail</a:t>
            </a:r>
            <a:endParaRPr lang="en-US" sz="900" dirty="0"/>
          </a:p>
        </p:txBody>
      </p:sp>
      <p:sp>
        <p:nvSpPr>
          <p:cNvPr id="74" name="Text 53"/>
          <p:cNvSpPr/>
          <p:nvPr/>
        </p:nvSpPr>
        <p:spPr>
          <a:xfrm>
            <a:off x="6793992" y="4626864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evidence assembled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manually after the fact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6A7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TO-BE: Synthetic Worker Inside the Governance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Orchestrated  |  Same Pipeline, Governed Automation  |  Aquera → SailPoint → Atlas → Brainwave/RadiantOne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280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6A7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GOVERNANCE PIPELINE (UNCHANGED)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2377440" cy="777240"/>
          </a:xfrm>
          <a:prstGeom prst="rect">
            <a:avLst/>
          </a:prstGeom>
          <a:solidFill>
            <a:srgbClr val="00897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70992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67712" y="1636776"/>
            <a:ext cx="320040" cy="2286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47472" y="1926641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AQUERA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29184" y="2105406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onboarded (unchanged)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Entitlements discovered</a:t>
            </a:r>
            <a:endParaRPr lang="en-US" sz="7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1874520"/>
            <a:ext cx="201168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108960" y="1600200"/>
            <a:ext cx="2560320" cy="777240"/>
          </a:xfrm>
          <a:prstGeom prst="rect">
            <a:avLst/>
          </a:prstGeom>
          <a:solidFill>
            <a:srgbClr val="1565C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8688" y="1709928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85232" y="1636776"/>
            <a:ext cx="320040" cy="2286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3182112" y="1926641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SAILPOINT IIQ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3163824" y="2105406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Governs synthetic worker’s access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tasks to worker</a:t>
            </a:r>
            <a:endParaRPr lang="en-US" sz="7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1874520"/>
            <a:ext cx="201168" cy="20116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126480" y="1600200"/>
            <a:ext cx="2560320" cy="777240"/>
          </a:xfrm>
          <a:prstGeom prst="rect">
            <a:avLst/>
          </a:prstGeom>
          <a:solidFill>
            <a:srgbClr val="6A1B9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1709928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302752" y="1636776"/>
            <a:ext cx="320040" cy="2286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6199632" y="1926641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BRAINWAVE / RADIANTONE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6181344" y="2105406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Recertifies worker’s access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verification target</a:t>
            </a:r>
            <a:endParaRPr lang="en-US" sz="750" dirty="0"/>
          </a:p>
        </p:txBody>
      </p:sp>
      <p:sp>
        <p:nvSpPr>
          <p:cNvPr id="23" name="Shape 16"/>
          <p:cNvSpPr/>
          <p:nvPr/>
        </p:nvSpPr>
        <p:spPr>
          <a:xfrm>
            <a:off x="274320" y="2578608"/>
            <a:ext cx="8412480" cy="9144"/>
          </a:xfrm>
          <a:prstGeom prst="rect">
            <a:avLst/>
          </a:prstGeom>
          <a:solidFill>
            <a:srgbClr val="E67E22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7"/>
          <p:cNvSpPr/>
          <p:nvPr/>
        </p:nvSpPr>
        <p:spPr>
          <a:xfrm>
            <a:off x="274320" y="2651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SYNTHETIC WORKER PIPELINE (AUTOMATED)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7863840" y="2633472"/>
            <a:ext cx="868680" cy="2743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0416" y="2642616"/>
            <a:ext cx="201168" cy="20116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119872" y="263347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274320" y="2971800"/>
            <a:ext cx="1097280" cy="914400"/>
          </a:xfrm>
          <a:prstGeom prst="rect">
            <a:avLst/>
          </a:prstGeom>
          <a:solidFill>
            <a:srgbClr val="E67E2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3081528"/>
            <a:ext cx="292608" cy="29260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87552" y="3008376"/>
            <a:ext cx="320040" cy="2286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347472" y="3355848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Intake</a:t>
            </a:r>
            <a:endParaRPr lang="en-US" sz="1000" dirty="0"/>
          </a:p>
        </p:txBody>
      </p:sp>
      <p:sp>
        <p:nvSpPr>
          <p:cNvPr id="32" name="Text 23"/>
          <p:cNvSpPr/>
          <p:nvPr/>
        </p:nvSpPr>
        <p:spPr>
          <a:xfrm>
            <a:off x="329184" y="3566160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Polls SailPoint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queue</a:t>
            </a:r>
            <a:endParaRPr lang="en-US" sz="75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4752" y="3337560"/>
            <a:ext cx="201168" cy="201168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1508760" y="2971800"/>
            <a:ext cx="1097280" cy="914400"/>
          </a:xfrm>
          <a:prstGeom prst="rect">
            <a:avLst/>
          </a:prstGeom>
          <a:solidFill>
            <a:srgbClr val="1E88E5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18488" y="3081528"/>
            <a:ext cx="292608" cy="29260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2221992" y="3008376"/>
            <a:ext cx="320040" cy="2286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7" name="Text 26"/>
          <p:cNvSpPr/>
          <p:nvPr/>
        </p:nvSpPr>
        <p:spPr>
          <a:xfrm>
            <a:off x="1581912" y="3355848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38" name="Text 27"/>
          <p:cNvSpPr/>
          <p:nvPr/>
        </p:nvSpPr>
        <p:spPr>
          <a:xfrm>
            <a:off x="1554480" y="3648456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RadiantOne +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SailPoint dual check</a:t>
            </a:r>
            <a:endParaRPr lang="en-US" sz="750" dirty="0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9192" y="3337560"/>
            <a:ext cx="201168" cy="201168"/>
          </a:xfrm>
          <a:prstGeom prst="rect">
            <a:avLst/>
          </a:prstGeom>
        </p:spPr>
      </p:pic>
      <p:sp>
        <p:nvSpPr>
          <p:cNvPr id="40" name="Shape 28"/>
          <p:cNvSpPr/>
          <p:nvPr/>
        </p:nvSpPr>
        <p:spPr>
          <a:xfrm>
            <a:off x="2743200" y="2971800"/>
            <a:ext cx="1097280" cy="914400"/>
          </a:xfrm>
          <a:prstGeom prst="rect">
            <a:avLst/>
          </a:prstGeom>
          <a:solidFill>
            <a:srgbClr val="00897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2928" y="3081528"/>
            <a:ext cx="292608" cy="292608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3456432" y="3008376"/>
            <a:ext cx="320040" cy="2286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3" name="Text 30"/>
          <p:cNvSpPr/>
          <p:nvPr/>
        </p:nvSpPr>
        <p:spPr>
          <a:xfrm>
            <a:off x="2816352" y="3355848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Pre-Check</a:t>
            </a:r>
            <a:endParaRPr lang="en-US" sz="1000" dirty="0"/>
          </a:p>
        </p:txBody>
      </p:sp>
      <p:sp>
        <p:nvSpPr>
          <p:cNvPr id="44" name="Text 31"/>
          <p:cNvSpPr/>
          <p:nvPr/>
        </p:nvSpPr>
        <p:spPr>
          <a:xfrm>
            <a:off x="2816352" y="3656027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SoD: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RadiantOne + SailPoint</a:t>
            </a:r>
            <a:endParaRPr lang="en-US" sz="750" dirty="0"/>
          </a:p>
        </p:txBody>
      </p:sp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632" y="3337560"/>
            <a:ext cx="201168" cy="201168"/>
          </a:xfrm>
          <a:prstGeom prst="rect">
            <a:avLst/>
          </a:prstGeom>
        </p:spPr>
      </p:pic>
      <p:sp>
        <p:nvSpPr>
          <p:cNvPr id="46" name="Shape 32"/>
          <p:cNvSpPr/>
          <p:nvPr/>
        </p:nvSpPr>
        <p:spPr>
          <a:xfrm>
            <a:off x="3977640" y="2971800"/>
            <a:ext cx="1097280" cy="914400"/>
          </a:xfrm>
          <a:prstGeom prst="rect">
            <a:avLst/>
          </a:prstGeom>
          <a:solidFill>
            <a:srgbClr val="1565C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87368" y="3081528"/>
            <a:ext cx="292608" cy="292608"/>
          </a:xfrm>
          <a:prstGeom prst="rect">
            <a:avLst/>
          </a:prstGeom>
        </p:spPr>
      </p:pic>
      <p:sp>
        <p:nvSpPr>
          <p:cNvPr id="48" name="Text 33"/>
          <p:cNvSpPr/>
          <p:nvPr/>
        </p:nvSpPr>
        <p:spPr>
          <a:xfrm>
            <a:off x="4690872" y="3008376"/>
            <a:ext cx="320040" cy="2286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9" name="Text 34"/>
          <p:cNvSpPr/>
          <p:nvPr/>
        </p:nvSpPr>
        <p:spPr>
          <a:xfrm>
            <a:off x="4050792" y="3355848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via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SailPoint</a:t>
            </a:r>
            <a:endParaRPr lang="en-US" sz="1000" dirty="0"/>
          </a:p>
        </p:txBody>
      </p:sp>
      <p:sp>
        <p:nvSpPr>
          <p:cNvPr id="50" name="Text 35"/>
          <p:cNvSpPr/>
          <p:nvPr/>
        </p:nvSpPr>
        <p:spPr>
          <a:xfrm>
            <a:off x="4050792" y="3650226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SailPoint connectors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(Aquera-powered)</a:t>
            </a:r>
            <a:endParaRPr lang="en-US" sz="750" dirty="0"/>
          </a:p>
        </p:txBody>
      </p:sp>
      <p:pic>
        <p:nvPicPr>
          <p:cNvPr id="51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72" y="3337560"/>
            <a:ext cx="201168" cy="201168"/>
          </a:xfrm>
          <a:prstGeom prst="rect">
            <a:avLst/>
          </a:prstGeom>
        </p:spPr>
      </p:pic>
      <p:sp>
        <p:nvSpPr>
          <p:cNvPr id="52" name="Shape 36"/>
          <p:cNvSpPr/>
          <p:nvPr/>
        </p:nvSpPr>
        <p:spPr>
          <a:xfrm>
            <a:off x="5212080" y="2971800"/>
            <a:ext cx="1097280" cy="914400"/>
          </a:xfrm>
          <a:prstGeom prst="rect">
            <a:avLst/>
          </a:prstGeom>
          <a:solidFill>
            <a:srgbClr val="27AE6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3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1808" y="3081528"/>
            <a:ext cx="292608" cy="292608"/>
          </a:xfrm>
          <a:prstGeom prst="rect">
            <a:avLst/>
          </a:prstGeom>
        </p:spPr>
      </p:pic>
      <p:sp>
        <p:nvSpPr>
          <p:cNvPr id="54" name="Text 37"/>
          <p:cNvSpPr/>
          <p:nvPr/>
        </p:nvSpPr>
        <p:spPr>
          <a:xfrm>
            <a:off x="5925312" y="3008376"/>
            <a:ext cx="320040" cy="2286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55" name="Text 38"/>
          <p:cNvSpPr/>
          <p:nvPr/>
        </p:nvSpPr>
        <p:spPr>
          <a:xfrm>
            <a:off x="5285232" y="3355848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000" dirty="0"/>
          </a:p>
        </p:txBody>
      </p:sp>
      <p:sp>
        <p:nvSpPr>
          <p:cNvPr id="56" name="Text 39"/>
          <p:cNvSpPr/>
          <p:nvPr/>
        </p:nvSpPr>
        <p:spPr>
          <a:xfrm>
            <a:off x="5257800" y="3639312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SailPoint + RadiantOne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Brainwave</a:t>
            </a:r>
            <a:endParaRPr lang="en-US" sz="750" dirty="0"/>
          </a:p>
        </p:txBody>
      </p:sp>
      <p:pic>
        <p:nvPicPr>
          <p:cNvPr id="57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3337560"/>
            <a:ext cx="201168" cy="201168"/>
          </a:xfrm>
          <a:prstGeom prst="rect">
            <a:avLst/>
          </a:prstGeom>
        </p:spPr>
      </p:pic>
      <p:sp>
        <p:nvSpPr>
          <p:cNvPr id="58" name="Shape 40"/>
          <p:cNvSpPr/>
          <p:nvPr/>
        </p:nvSpPr>
        <p:spPr>
          <a:xfrm>
            <a:off x="6446520" y="2971800"/>
            <a:ext cx="1097280" cy="914400"/>
          </a:xfrm>
          <a:prstGeom prst="rect">
            <a:avLst/>
          </a:prstGeom>
          <a:solidFill>
            <a:srgbClr val="6A1B9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9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6248" y="3081528"/>
            <a:ext cx="292608" cy="292608"/>
          </a:xfrm>
          <a:prstGeom prst="rect">
            <a:avLst/>
          </a:prstGeom>
        </p:spPr>
      </p:pic>
      <p:sp>
        <p:nvSpPr>
          <p:cNvPr id="60" name="Text 41"/>
          <p:cNvSpPr/>
          <p:nvPr/>
        </p:nvSpPr>
        <p:spPr>
          <a:xfrm>
            <a:off x="7159752" y="3008376"/>
            <a:ext cx="320040" cy="2286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61" name="Text 42"/>
          <p:cNvSpPr/>
          <p:nvPr/>
        </p:nvSpPr>
        <p:spPr>
          <a:xfrm>
            <a:off x="6519672" y="3355848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000" dirty="0"/>
          </a:p>
        </p:txBody>
      </p:sp>
      <p:sp>
        <p:nvSpPr>
          <p:cNvPr id="62" name="Text 43"/>
          <p:cNvSpPr/>
          <p:nvPr/>
        </p:nvSpPr>
        <p:spPr>
          <a:xfrm>
            <a:off x="6501384" y="3632823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SOX package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SailPoint task</a:t>
            </a:r>
            <a:endParaRPr lang="en-US" sz="750" dirty="0"/>
          </a:p>
        </p:txBody>
      </p:sp>
      <p:sp>
        <p:nvSpPr>
          <p:cNvPr id="63" name="Shape 44"/>
          <p:cNvSpPr/>
          <p:nvPr/>
        </p:nvSpPr>
        <p:spPr>
          <a:xfrm>
            <a:off x="7680960" y="2971800"/>
            <a:ext cx="1051560" cy="914400"/>
          </a:xfrm>
          <a:prstGeom prst="rect">
            <a:avLst/>
          </a:prstGeom>
          <a:solidFill>
            <a:srgbClr val="37474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4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90688" y="3081528"/>
            <a:ext cx="292608" cy="292608"/>
          </a:xfrm>
          <a:prstGeom prst="rect">
            <a:avLst/>
          </a:prstGeom>
        </p:spPr>
      </p:pic>
      <p:sp>
        <p:nvSpPr>
          <p:cNvPr id="65" name="Text 45"/>
          <p:cNvSpPr/>
          <p:nvPr/>
        </p:nvSpPr>
        <p:spPr>
          <a:xfrm>
            <a:off x="8348472" y="3008376"/>
            <a:ext cx="320040" cy="2286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66" name="Text 46"/>
          <p:cNvSpPr/>
          <p:nvPr/>
        </p:nvSpPr>
        <p:spPr>
          <a:xfrm>
            <a:off x="7754112" y="3355848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000" dirty="0"/>
          </a:p>
        </p:txBody>
      </p:sp>
      <p:sp>
        <p:nvSpPr>
          <p:cNvPr id="67" name="Text 47"/>
          <p:cNvSpPr/>
          <p:nvPr/>
        </p:nvSpPr>
        <p:spPr>
          <a:xfrm>
            <a:off x="7735824" y="3639312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rotation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Recertification prep</a:t>
            </a:r>
            <a:endParaRPr lang="en-US" sz="750" dirty="0"/>
          </a:p>
        </p:txBody>
      </p:sp>
      <p:sp>
        <p:nvSpPr>
          <p:cNvPr id="68" name="Shape 48"/>
          <p:cNvSpPr/>
          <p:nvPr/>
        </p:nvSpPr>
        <p:spPr>
          <a:xfrm>
            <a:off x="3520440" y="3977640"/>
            <a:ext cx="1463040" cy="411480"/>
          </a:xfrm>
          <a:prstGeom prst="rect">
            <a:avLst/>
          </a:prstGeom>
          <a:solidFill>
            <a:srgbClr val="FFF3E0"/>
          </a:solidFill>
          <a:ln w="1905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49"/>
          <p:cNvSpPr/>
          <p:nvPr/>
        </p:nvSpPr>
        <p:spPr>
          <a:xfrm>
            <a:off x="3520440" y="3977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Gate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Risk-based routing</a:t>
            </a:r>
            <a:endParaRPr lang="en-US" sz="750" dirty="0"/>
          </a:p>
        </p:txBody>
      </p:sp>
      <p:sp>
        <p:nvSpPr>
          <p:cNvPr id="70" name="Shape 50"/>
          <p:cNvSpPr/>
          <p:nvPr/>
        </p:nvSpPr>
        <p:spPr>
          <a:xfrm>
            <a:off x="274320" y="4498848"/>
            <a:ext cx="8412480" cy="9144"/>
          </a:xfrm>
          <a:prstGeom prst="rect">
            <a:avLst/>
          </a:prstGeom>
          <a:solidFill>
            <a:srgbClr val="27AE60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51"/>
          <p:cNvSpPr/>
          <p:nvPr/>
        </p:nvSpPr>
        <p:spPr>
          <a:xfrm>
            <a:off x="274320" y="4572000"/>
            <a:ext cx="2011680" cy="512064"/>
          </a:xfrm>
          <a:prstGeom prst="rect">
            <a:avLst/>
          </a:prstGeom>
          <a:solidFill>
            <a:srgbClr val="27AE60">
              <a:alpha val="12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2" name="Image 1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472" y="4608576"/>
            <a:ext cx="164592" cy="164592"/>
          </a:xfrm>
          <a:prstGeom prst="rect">
            <a:avLst/>
          </a:prstGeom>
        </p:spPr>
      </p:pic>
      <p:sp>
        <p:nvSpPr>
          <p:cNvPr id="73" name="Text 52"/>
          <p:cNvSpPr/>
          <p:nvPr/>
        </p:nvSpPr>
        <p:spPr>
          <a:xfrm>
            <a:off x="548640" y="459028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 min per task</a:t>
            </a:r>
            <a:endParaRPr lang="en-US" sz="900" dirty="0"/>
          </a:p>
        </p:txBody>
      </p:sp>
      <p:sp>
        <p:nvSpPr>
          <p:cNvPr id="74" name="Text 53"/>
          <p:cNvSpPr/>
          <p:nvPr/>
        </p:nvSpPr>
        <p:spPr>
          <a:xfrm>
            <a:off x="347472" y="479145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25x faster than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processing</a:t>
            </a:r>
            <a:endParaRPr lang="en-US" sz="750" dirty="0"/>
          </a:p>
        </p:txBody>
      </p:sp>
      <p:sp>
        <p:nvSpPr>
          <p:cNvPr id="75" name="Shape 54"/>
          <p:cNvSpPr/>
          <p:nvPr/>
        </p:nvSpPr>
        <p:spPr>
          <a:xfrm>
            <a:off x="2423160" y="4572000"/>
            <a:ext cx="2011680" cy="512064"/>
          </a:xfrm>
          <a:prstGeom prst="rect">
            <a:avLst/>
          </a:prstGeom>
          <a:solidFill>
            <a:srgbClr val="27AE60">
              <a:alpha val="12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6" name="Image 1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96312" y="4608576"/>
            <a:ext cx="164592" cy="164592"/>
          </a:xfrm>
          <a:prstGeom prst="rect">
            <a:avLst/>
          </a:prstGeom>
        </p:spPr>
      </p:pic>
      <p:sp>
        <p:nvSpPr>
          <p:cNvPr id="77" name="Text 55"/>
          <p:cNvSpPr/>
          <p:nvPr/>
        </p:nvSpPr>
        <p:spPr>
          <a:xfrm>
            <a:off x="2697480" y="459028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$0.05 per application</a:t>
            </a:r>
            <a:endParaRPr lang="en-US" sz="900" dirty="0"/>
          </a:p>
        </p:txBody>
      </p:sp>
      <p:sp>
        <p:nvSpPr>
          <p:cNvPr id="78" name="Text 56"/>
          <p:cNvSpPr/>
          <p:nvPr/>
        </p:nvSpPr>
        <p:spPr>
          <a:xfrm>
            <a:off x="2496312" y="479145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700x cost reduction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$324K annual savings</a:t>
            </a:r>
            <a:endParaRPr lang="en-US" sz="750" dirty="0"/>
          </a:p>
        </p:txBody>
      </p:sp>
      <p:sp>
        <p:nvSpPr>
          <p:cNvPr id="79" name="Shape 57"/>
          <p:cNvSpPr/>
          <p:nvPr/>
        </p:nvSpPr>
        <p:spPr>
          <a:xfrm>
            <a:off x="4572000" y="4572000"/>
            <a:ext cx="2011680" cy="512064"/>
          </a:xfrm>
          <a:prstGeom prst="rect">
            <a:avLst/>
          </a:prstGeom>
          <a:solidFill>
            <a:srgbClr val="27AE60">
              <a:alpha val="12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0" name="Image 2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5152" y="4608576"/>
            <a:ext cx="164592" cy="164592"/>
          </a:xfrm>
          <a:prstGeom prst="rect">
            <a:avLst/>
          </a:prstGeom>
        </p:spPr>
      </p:pic>
      <p:sp>
        <p:nvSpPr>
          <p:cNvPr id="81" name="Text 58"/>
          <p:cNvSpPr/>
          <p:nvPr/>
        </p:nvSpPr>
        <p:spPr>
          <a:xfrm>
            <a:off x="4846320" y="459028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SoD validation</a:t>
            </a:r>
            <a:endParaRPr lang="en-US" sz="900" dirty="0"/>
          </a:p>
        </p:txBody>
      </p:sp>
      <p:sp>
        <p:nvSpPr>
          <p:cNvPr id="82" name="Text 59"/>
          <p:cNvSpPr/>
          <p:nvPr/>
        </p:nvSpPr>
        <p:spPr>
          <a:xfrm>
            <a:off x="4645152" y="479145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RadiantOne + SailPoint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must pass</a:t>
            </a:r>
            <a:endParaRPr lang="en-US" sz="750" dirty="0"/>
          </a:p>
        </p:txBody>
      </p:sp>
      <p:sp>
        <p:nvSpPr>
          <p:cNvPr id="83" name="Shape 60"/>
          <p:cNvSpPr/>
          <p:nvPr/>
        </p:nvSpPr>
        <p:spPr>
          <a:xfrm>
            <a:off x="6720840" y="4572000"/>
            <a:ext cx="2011680" cy="512064"/>
          </a:xfrm>
          <a:prstGeom prst="rect">
            <a:avLst/>
          </a:prstGeom>
          <a:solidFill>
            <a:srgbClr val="27AE60">
              <a:alpha val="12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4" name="Image 2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93992" y="4608576"/>
            <a:ext cx="164592" cy="164592"/>
          </a:xfrm>
          <a:prstGeom prst="rect">
            <a:avLst/>
          </a:prstGeom>
        </p:spPr>
      </p:pic>
      <p:sp>
        <p:nvSpPr>
          <p:cNvPr id="85" name="Text 61"/>
          <p:cNvSpPr/>
          <p:nvPr/>
        </p:nvSpPr>
        <p:spPr>
          <a:xfrm>
            <a:off x="6995160" y="459028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provenance trail</a:t>
            </a:r>
            <a:endParaRPr lang="en-US" sz="900" dirty="0"/>
          </a:p>
        </p:txBody>
      </p:sp>
      <p:sp>
        <p:nvSpPr>
          <p:cNvPr id="86" name="Text 62"/>
          <p:cNvSpPr/>
          <p:nvPr/>
        </p:nvSpPr>
        <p:spPr>
          <a:xfrm>
            <a:off x="6793992" y="479145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+ SailPoint + RadiantOne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SOX-ready, hash-chained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326</Words>
  <Application>Microsoft Office PowerPoint</Application>
  <PresentationFormat>On-screen Show (16:9)</PresentationFormat>
  <Paragraphs>123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Onboarding: As-Is vs Synthetic Worker</dc:title>
  <dc:subject>PptxGenJS Presentation</dc:subject>
  <dc:creator>Atlas Platform</dc:creator>
  <cp:lastModifiedBy>Swarup Dutta (BLR GSS)</cp:lastModifiedBy>
  <cp:revision>3</cp:revision>
  <dcterms:created xsi:type="dcterms:W3CDTF">2026-03-11T12:24:40Z</dcterms:created>
  <dcterms:modified xsi:type="dcterms:W3CDTF">2026-03-11T15:49:10Z</dcterms:modified>
</cp:coreProperties>
</file>