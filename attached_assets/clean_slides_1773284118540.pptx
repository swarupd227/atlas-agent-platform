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6A7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AS-IS: How a Human Gets Application Access at BlackRock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Pipeline: HR Event → Aquera → SailPoint → Brainwave/RadiantOne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89611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&amp; PROVISIONING FLOW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1097280" cy="640080"/>
          </a:xfrm>
          <a:prstGeom prst="rect">
            <a:avLst/>
          </a:prstGeom>
          <a:solidFill>
            <a:srgbClr val="546E7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" y="113385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5176" y="13167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65176" y="14813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team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headcount</a:t>
            </a:r>
            <a:endParaRPr lang="en-US" sz="6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1335024"/>
            <a:ext cx="146304" cy="14630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27632" y="1078992"/>
            <a:ext cx="1005840" cy="640080"/>
          </a:xfrm>
          <a:prstGeom prst="rect">
            <a:avLst/>
          </a:prstGeom>
          <a:solidFill>
            <a:srgbClr val="455A6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1133856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64208" y="13167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/ Workday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1664208" y="148132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employee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6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624" y="1335024"/>
            <a:ext cx="146304" cy="14630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926080" y="1078992"/>
            <a:ext cx="1417320" cy="64008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1133856"/>
            <a:ext cx="182880" cy="18288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023360" y="1115568"/>
            <a:ext cx="256032" cy="146304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9" name="Text 12"/>
          <p:cNvSpPr/>
          <p:nvPr/>
        </p:nvSpPr>
        <p:spPr>
          <a:xfrm>
            <a:off x="4023360" y="111556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0" name="Text 13"/>
          <p:cNvSpPr/>
          <p:nvPr/>
        </p:nvSpPr>
        <p:spPr>
          <a:xfrm>
            <a:off x="2962656" y="1316736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AQUERA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2962656" y="14813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target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&amp; entitlements</a:t>
            </a:r>
            <a:endParaRPr lang="en-US" sz="6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1335024"/>
            <a:ext cx="146304" cy="14630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645152" y="1078992"/>
            <a:ext cx="1554480" cy="64008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1133856"/>
            <a:ext cx="182880" cy="18288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5879592" y="1115568"/>
            <a:ext cx="256032" cy="146304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6" name="Text 17"/>
          <p:cNvSpPr/>
          <p:nvPr/>
        </p:nvSpPr>
        <p:spPr>
          <a:xfrm>
            <a:off x="5879592" y="111556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7" name="Text 18"/>
          <p:cNvSpPr/>
          <p:nvPr/>
        </p:nvSpPr>
        <p:spPr>
          <a:xfrm>
            <a:off x="4681728" y="131673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 IIQ</a:t>
            </a:r>
            <a:endParaRPr lang="en-US" sz="850" dirty="0"/>
          </a:p>
        </p:txBody>
      </p:sp>
      <p:sp>
        <p:nvSpPr>
          <p:cNvPr id="28" name="Text 19"/>
          <p:cNvSpPr/>
          <p:nvPr/>
        </p:nvSpPr>
        <p:spPr>
          <a:xfrm>
            <a:off x="4681728" y="14813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access</a:t>
            </a:r>
            <a:endParaRPr lang="en-US" sz="6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1335024"/>
            <a:ext cx="146304" cy="146304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6492240" y="1078992"/>
            <a:ext cx="1417320" cy="640080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1133856"/>
            <a:ext cx="182880" cy="182880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7589520" y="1115568"/>
            <a:ext cx="256032" cy="146304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3" name="Text 22"/>
          <p:cNvSpPr/>
          <p:nvPr/>
        </p:nvSpPr>
        <p:spPr>
          <a:xfrm>
            <a:off x="7589520" y="111556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34" name="Text 23"/>
          <p:cNvSpPr/>
          <p:nvPr/>
        </p:nvSpPr>
        <p:spPr>
          <a:xfrm>
            <a:off x="6528816" y="1316736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BRAINWAVE</a:t>
            </a:r>
            <a:endParaRPr lang="en-US" sz="850" dirty="0"/>
          </a:p>
        </p:txBody>
      </p:sp>
      <p:sp>
        <p:nvSpPr>
          <p:cNvPr id="35" name="Text 24"/>
          <p:cNvSpPr/>
          <p:nvPr/>
        </p:nvSpPr>
        <p:spPr>
          <a:xfrm>
            <a:off x="6528816" y="148132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Certifies access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periodically</a:t>
            </a:r>
            <a:endParaRPr lang="en-US" sz="650" dirty="0"/>
          </a:p>
        </p:txBody>
      </p:sp>
      <p:sp>
        <p:nvSpPr>
          <p:cNvPr id="36" name="Shape 25"/>
          <p:cNvSpPr/>
          <p:nvPr/>
        </p:nvSpPr>
        <p:spPr>
          <a:xfrm>
            <a:off x="228600" y="1901952"/>
            <a:ext cx="7772400" cy="0"/>
          </a:xfrm>
          <a:prstGeom prst="line">
            <a:avLst/>
          </a:prstGeom>
          <a:noFill/>
          <a:ln w="6350">
            <a:solidFill>
              <a:srgbClr val="C6A74E">
                <a:alpha val="50000"/>
              </a:srgbClr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228600" y="1956816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HUMAN GETS APPLICATION ACCESS</a:t>
            </a:r>
            <a:endParaRPr lang="en-US" sz="700" dirty="0"/>
          </a:p>
        </p:txBody>
      </p:sp>
      <p:sp>
        <p:nvSpPr>
          <p:cNvPr id="38" name="Shape 27"/>
          <p:cNvSpPr/>
          <p:nvPr/>
        </p:nvSpPr>
        <p:spPr>
          <a:xfrm>
            <a:off x="228600" y="2139696"/>
            <a:ext cx="1426464" cy="457200"/>
          </a:xfrm>
          <a:prstGeom prst="rect">
            <a:avLst/>
          </a:prstGeom>
          <a:solidFill>
            <a:srgbClr val="37474F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464" y="2176272"/>
            <a:ext cx="146304" cy="14630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265176" y="232257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Aladdin OMS</a:t>
            </a:r>
            <a:endParaRPr lang="en-US" sz="850" dirty="0"/>
          </a:p>
        </p:txBody>
      </p:sp>
      <p:sp>
        <p:nvSpPr>
          <p:cNvPr id="41" name="Text 29"/>
          <p:cNvSpPr/>
          <p:nvPr/>
        </p:nvSpPr>
        <p:spPr>
          <a:xfrm>
            <a:off x="265176" y="2450592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Trading, funds</a:t>
            </a:r>
            <a:endParaRPr lang="en-US" sz="650" dirty="0"/>
          </a:p>
        </p:txBody>
      </p:sp>
      <p:sp>
        <p:nvSpPr>
          <p:cNvPr id="42" name="Shape 30"/>
          <p:cNvSpPr/>
          <p:nvPr/>
        </p:nvSpPr>
        <p:spPr>
          <a:xfrm>
            <a:off x="1810512" y="2139696"/>
            <a:ext cx="1426464" cy="457200"/>
          </a:xfrm>
          <a:prstGeom prst="rect">
            <a:avLst/>
          </a:prstGeom>
          <a:solidFill>
            <a:srgbClr val="37474F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5376" y="2176272"/>
            <a:ext cx="146304" cy="146304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1847088" y="232257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</a:t>
            </a:r>
            <a:endParaRPr lang="en-US" sz="850" dirty="0"/>
          </a:p>
        </p:txBody>
      </p:sp>
      <p:sp>
        <p:nvSpPr>
          <p:cNvPr id="45" name="Text 32"/>
          <p:cNvSpPr/>
          <p:nvPr/>
        </p:nvSpPr>
        <p:spPr>
          <a:xfrm>
            <a:off x="1847088" y="2450592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</a:t>
            </a:r>
            <a:endParaRPr lang="en-US" sz="650" dirty="0"/>
          </a:p>
        </p:txBody>
      </p:sp>
      <p:sp>
        <p:nvSpPr>
          <p:cNvPr id="46" name="Shape 33"/>
          <p:cNvSpPr/>
          <p:nvPr/>
        </p:nvSpPr>
        <p:spPr>
          <a:xfrm>
            <a:off x="3392424" y="2139696"/>
            <a:ext cx="1426464" cy="457200"/>
          </a:xfrm>
          <a:prstGeom prst="rect">
            <a:avLst/>
          </a:prstGeom>
          <a:solidFill>
            <a:srgbClr val="37474F"/>
          </a:solidFill>
          <a:ln/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47288" y="2176272"/>
            <a:ext cx="146304" cy="146304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3429000" y="232257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 River</a:t>
            </a:r>
            <a:endParaRPr lang="en-US" sz="850" dirty="0"/>
          </a:p>
        </p:txBody>
      </p:sp>
      <p:sp>
        <p:nvSpPr>
          <p:cNvPr id="49" name="Text 35"/>
          <p:cNvSpPr/>
          <p:nvPr/>
        </p:nvSpPr>
        <p:spPr>
          <a:xfrm>
            <a:off x="3429000" y="2450592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portfolio</a:t>
            </a:r>
            <a:endParaRPr lang="en-US" sz="650" dirty="0"/>
          </a:p>
        </p:txBody>
      </p:sp>
      <p:sp>
        <p:nvSpPr>
          <p:cNvPr id="50" name="Shape 36"/>
          <p:cNvSpPr/>
          <p:nvPr/>
        </p:nvSpPr>
        <p:spPr>
          <a:xfrm>
            <a:off x="4974336" y="2139696"/>
            <a:ext cx="1426464" cy="457200"/>
          </a:xfrm>
          <a:prstGeom prst="rect">
            <a:avLst/>
          </a:prstGeom>
          <a:solidFill>
            <a:srgbClr val="37474F"/>
          </a:solidFill>
          <a:ln/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2176272"/>
            <a:ext cx="146304" cy="146304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5010912" y="232257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850" dirty="0"/>
          </a:p>
        </p:txBody>
      </p:sp>
      <p:sp>
        <p:nvSpPr>
          <p:cNvPr id="53" name="Text 38"/>
          <p:cNvSpPr/>
          <p:nvPr/>
        </p:nvSpPr>
        <p:spPr>
          <a:xfrm>
            <a:off x="5010912" y="2450592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Tickets, approvals</a:t>
            </a:r>
            <a:endParaRPr lang="en-US" sz="650" dirty="0"/>
          </a:p>
        </p:txBody>
      </p:sp>
      <p:sp>
        <p:nvSpPr>
          <p:cNvPr id="54" name="Shape 39"/>
          <p:cNvSpPr/>
          <p:nvPr/>
        </p:nvSpPr>
        <p:spPr>
          <a:xfrm>
            <a:off x="6556248" y="2139696"/>
            <a:ext cx="1426464" cy="457200"/>
          </a:xfrm>
          <a:prstGeom prst="rect">
            <a:avLst/>
          </a:prstGeom>
          <a:solidFill>
            <a:srgbClr val="37474F"/>
          </a:solidFill>
          <a:ln/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1112" y="2176272"/>
            <a:ext cx="146304" cy="146304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6592824" y="232257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850" dirty="0"/>
          </a:p>
        </p:txBody>
      </p:sp>
      <p:sp>
        <p:nvSpPr>
          <p:cNvPr id="57" name="Text 41"/>
          <p:cNvSpPr/>
          <p:nvPr/>
        </p:nvSpPr>
        <p:spPr>
          <a:xfrm>
            <a:off x="6592824" y="2450592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Groups, shares</a:t>
            </a:r>
            <a:endParaRPr lang="en-US" sz="650" dirty="0"/>
          </a:p>
        </p:txBody>
      </p:sp>
      <p:sp>
        <p:nvSpPr>
          <p:cNvPr id="58" name="Shape 42"/>
          <p:cNvSpPr/>
          <p:nvPr/>
        </p:nvSpPr>
        <p:spPr>
          <a:xfrm>
            <a:off x="228600" y="2779776"/>
            <a:ext cx="7772400" cy="0"/>
          </a:xfrm>
          <a:prstGeom prst="line">
            <a:avLst/>
          </a:prstGeom>
          <a:noFill/>
          <a:ln w="6350">
            <a:solidFill>
              <a:srgbClr val="2E86AB">
                <a:alpha val="50000"/>
              </a:srgbClr>
            </a:solidFill>
            <a:prstDash val="solid"/>
          </a:ln>
        </p:spPr>
      </p:sp>
      <p:sp>
        <p:nvSpPr>
          <p:cNvPr id="59" name="Text 43"/>
          <p:cNvSpPr/>
          <p:nvPr/>
        </p:nvSpPr>
        <p:spPr>
          <a:xfrm>
            <a:off x="228600" y="2834640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PIPELINE TRUSTS THIS (4 HUMAN TRUST SIGNALS)</a:t>
            </a:r>
            <a:endParaRPr lang="en-US" sz="700" dirty="0"/>
          </a:p>
        </p:txBody>
      </p:sp>
      <p:sp>
        <p:nvSpPr>
          <p:cNvPr id="60" name="Shape 44"/>
          <p:cNvSpPr/>
          <p:nvPr/>
        </p:nvSpPr>
        <p:spPr>
          <a:xfrm>
            <a:off x="228600" y="3017520"/>
            <a:ext cx="1810512" cy="457200"/>
          </a:xfrm>
          <a:prstGeom prst="rect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320" y="3044952"/>
            <a:ext cx="109728" cy="109728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411480" y="3026664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Record Exists</a:t>
            </a:r>
            <a:endParaRPr lang="en-US" sz="800" dirty="0"/>
          </a:p>
        </p:txBody>
      </p:sp>
      <p:sp>
        <p:nvSpPr>
          <p:cNvPr id="63" name="Text 46"/>
          <p:cNvSpPr/>
          <p:nvPr/>
        </p:nvSpPr>
        <p:spPr>
          <a:xfrm>
            <a:off x="274320" y="31821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confirms: real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employee, start date, mgr</a:t>
            </a:r>
            <a:endParaRPr lang="en-US" sz="650" dirty="0"/>
          </a:p>
        </p:txBody>
      </p:sp>
      <p:sp>
        <p:nvSpPr>
          <p:cNvPr id="64" name="Shape 47"/>
          <p:cNvSpPr/>
          <p:nvPr/>
        </p:nvSpPr>
        <p:spPr>
          <a:xfrm>
            <a:off x="2194560" y="3017520"/>
            <a:ext cx="1810512" cy="457200"/>
          </a:xfrm>
          <a:prstGeom prst="rect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40280" y="3044952"/>
            <a:ext cx="109728" cy="109728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2377440" y="3026664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Authentication</a:t>
            </a:r>
            <a:endParaRPr lang="en-US" sz="800" dirty="0"/>
          </a:p>
        </p:txBody>
      </p:sp>
      <p:sp>
        <p:nvSpPr>
          <p:cNvPr id="67" name="Text 49"/>
          <p:cNvSpPr/>
          <p:nvPr/>
        </p:nvSpPr>
        <p:spPr>
          <a:xfrm>
            <a:off x="2240280" y="31821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+ Duo/Okta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at every login</a:t>
            </a:r>
            <a:endParaRPr lang="en-US" sz="650" dirty="0"/>
          </a:p>
        </p:txBody>
      </p:sp>
      <p:sp>
        <p:nvSpPr>
          <p:cNvPr id="68" name="Shape 50"/>
          <p:cNvSpPr/>
          <p:nvPr/>
        </p:nvSpPr>
        <p:spPr>
          <a:xfrm>
            <a:off x="4160520" y="3017520"/>
            <a:ext cx="1810512" cy="457200"/>
          </a:xfrm>
          <a:prstGeom prst="rect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6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06240" y="3044952"/>
            <a:ext cx="109728" cy="109728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4343400" y="3026664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Approves</a:t>
            </a:r>
            <a:endParaRPr lang="en-US" sz="800" dirty="0"/>
          </a:p>
        </p:txBody>
      </p:sp>
      <p:sp>
        <p:nvSpPr>
          <p:cNvPr id="71" name="Text 52"/>
          <p:cNvSpPr/>
          <p:nvPr/>
        </p:nvSpPr>
        <p:spPr>
          <a:xfrm>
            <a:off x="4206240" y="31821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manager approves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SailPoint workflow</a:t>
            </a:r>
            <a:endParaRPr lang="en-US" sz="650" dirty="0"/>
          </a:p>
        </p:txBody>
      </p:sp>
      <p:sp>
        <p:nvSpPr>
          <p:cNvPr id="72" name="Shape 53"/>
          <p:cNvSpPr/>
          <p:nvPr/>
        </p:nvSpPr>
        <p:spPr>
          <a:xfrm>
            <a:off x="6126480" y="3017520"/>
            <a:ext cx="1810512" cy="457200"/>
          </a:xfrm>
          <a:prstGeom prst="rect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7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72200" y="3044952"/>
            <a:ext cx="109728" cy="109728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6309360" y="3026664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Certification</a:t>
            </a:r>
            <a:endParaRPr lang="en-US" sz="800" dirty="0"/>
          </a:p>
        </p:txBody>
      </p:sp>
      <p:sp>
        <p:nvSpPr>
          <p:cNvPr id="75" name="Text 55"/>
          <p:cNvSpPr/>
          <p:nvPr/>
        </p:nvSpPr>
        <p:spPr>
          <a:xfrm>
            <a:off x="6172200" y="31821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Brainwave quarterly.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certifies access</a:t>
            </a:r>
            <a:endParaRPr lang="en-US" sz="650" dirty="0"/>
          </a:p>
        </p:txBody>
      </p:sp>
      <p:sp>
        <p:nvSpPr>
          <p:cNvPr id="76" name="Shape 5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C6A74E">
                <a:alpha val="60000"/>
              </a:srgbClr>
            </a:solidFill>
            <a:prstDash val="solid"/>
          </a:ln>
        </p:spPr>
      </p:sp>
      <p:sp>
        <p:nvSpPr>
          <p:cNvPr id="77" name="Text 57"/>
          <p:cNvSpPr/>
          <p:nvPr/>
        </p:nvSpPr>
        <p:spPr>
          <a:xfrm>
            <a:off x="228600" y="3712464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METRICS</a:t>
            </a:r>
            <a:endParaRPr lang="en-US" sz="650" dirty="0"/>
          </a:p>
        </p:txBody>
      </p:sp>
      <p:sp>
        <p:nvSpPr>
          <p:cNvPr id="78" name="Shape 58"/>
          <p:cNvSpPr/>
          <p:nvPr/>
        </p:nvSpPr>
        <p:spPr>
          <a:xfrm>
            <a:off x="228600" y="3877056"/>
            <a:ext cx="1901952" cy="329184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9" name="Text 59"/>
          <p:cNvSpPr/>
          <p:nvPr/>
        </p:nvSpPr>
        <p:spPr>
          <a:xfrm>
            <a:off x="274320" y="3895344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 per task</a:t>
            </a:r>
            <a:endParaRPr lang="en-US" sz="950" dirty="0"/>
          </a:p>
        </p:txBody>
      </p:sp>
      <p:sp>
        <p:nvSpPr>
          <p:cNvPr id="80" name="Text 60"/>
          <p:cNvSpPr/>
          <p:nvPr/>
        </p:nvSpPr>
        <p:spPr>
          <a:xfrm>
            <a:off x="274320" y="4041648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login to each target app</a:t>
            </a:r>
            <a:endParaRPr lang="en-US" sz="650" dirty="0"/>
          </a:p>
        </p:txBody>
      </p:sp>
      <p:sp>
        <p:nvSpPr>
          <p:cNvPr id="81" name="Shape 61"/>
          <p:cNvSpPr/>
          <p:nvPr/>
        </p:nvSpPr>
        <p:spPr>
          <a:xfrm>
            <a:off x="2286000" y="3877056"/>
            <a:ext cx="1901952" cy="329184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2" name="Text 62"/>
          <p:cNvSpPr/>
          <p:nvPr/>
        </p:nvSpPr>
        <p:spPr>
          <a:xfrm>
            <a:off x="2331720" y="3895344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~$35 per application</a:t>
            </a:r>
            <a:endParaRPr lang="en-US" sz="950" dirty="0"/>
          </a:p>
        </p:txBody>
      </p:sp>
      <p:sp>
        <p:nvSpPr>
          <p:cNvPr id="83" name="Text 63"/>
          <p:cNvSpPr/>
          <p:nvPr/>
        </p:nvSpPr>
        <p:spPr>
          <a:xfrm>
            <a:off x="2331720" y="4041648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Salary-loaded analyst time</a:t>
            </a:r>
            <a:endParaRPr lang="en-US" sz="650" dirty="0"/>
          </a:p>
        </p:txBody>
      </p:sp>
      <p:sp>
        <p:nvSpPr>
          <p:cNvPr id="84" name="Shape 64"/>
          <p:cNvSpPr/>
          <p:nvPr/>
        </p:nvSpPr>
        <p:spPr>
          <a:xfrm>
            <a:off x="4343400" y="3877056"/>
            <a:ext cx="1901952" cy="329184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5" name="Text 65"/>
          <p:cNvSpPr/>
          <p:nvPr/>
        </p:nvSpPr>
        <p:spPr>
          <a:xfrm>
            <a:off x="4389120" y="3895344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Error-prone compliance</a:t>
            </a:r>
            <a:endParaRPr lang="en-US" sz="950" dirty="0"/>
          </a:p>
        </p:txBody>
      </p:sp>
      <p:sp>
        <p:nvSpPr>
          <p:cNvPr id="86" name="Text 66"/>
          <p:cNvSpPr/>
          <p:nvPr/>
        </p:nvSpPr>
        <p:spPr>
          <a:xfrm>
            <a:off x="4389120" y="4041648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SoD checks from memory/docs</a:t>
            </a:r>
            <a:endParaRPr lang="en-US" sz="650" dirty="0"/>
          </a:p>
        </p:txBody>
      </p:sp>
      <p:sp>
        <p:nvSpPr>
          <p:cNvPr id="87" name="Shape 67"/>
          <p:cNvSpPr/>
          <p:nvPr/>
        </p:nvSpPr>
        <p:spPr>
          <a:xfrm>
            <a:off x="6400800" y="3877056"/>
            <a:ext cx="1901952" cy="329184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8" name="Text 68"/>
          <p:cNvSpPr/>
          <p:nvPr/>
        </p:nvSpPr>
        <p:spPr>
          <a:xfrm>
            <a:off x="6446520" y="3895344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provenance trail</a:t>
            </a:r>
            <a:endParaRPr lang="en-US" sz="950" dirty="0"/>
          </a:p>
        </p:txBody>
      </p:sp>
      <p:sp>
        <p:nvSpPr>
          <p:cNvPr id="89" name="Text 69"/>
          <p:cNvSpPr/>
          <p:nvPr/>
        </p:nvSpPr>
        <p:spPr>
          <a:xfrm>
            <a:off x="6446520" y="4041648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assembled manually</a:t>
            </a:r>
            <a:endParaRPr lang="en-US" sz="650" dirty="0"/>
          </a:p>
        </p:txBody>
      </p:sp>
      <p:sp>
        <p:nvSpPr>
          <p:cNvPr id="90" name="Text 70"/>
          <p:cNvSpPr/>
          <p:nvPr/>
        </p:nvSpPr>
        <p:spPr>
          <a:xfrm>
            <a:off x="228600" y="42976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This pipeline works perfectly for humans. Every trust signal is human-native.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Synthetic Worker Needs the Same Access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applications, same entitlements, same governance — but none of the human trust signals exist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8961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ORIGINATES THE SAME WAY: ServiceNow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1371600" cy="566928"/>
          </a:xfrm>
          <a:prstGeom prst="rect">
            <a:avLst/>
          </a:prstGeom>
          <a:solidFill>
            <a:srgbClr val="546E7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" y="113385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5176" y="131673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Request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5176" y="144475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team requests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synthetic worker</a:t>
            </a:r>
            <a:endParaRPr lang="en-US" sz="6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1298448"/>
            <a:ext cx="146304" cy="14630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901952" y="1078992"/>
            <a:ext cx="1280160" cy="566928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6" y="1133856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38528" y="1316736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Worker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938528" y="144475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access to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applications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3246120" y="12984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→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3703320" y="1078992"/>
            <a:ext cx="1234440" cy="566928"/>
          </a:xfrm>
          <a:prstGeom prst="rect">
            <a:avLst/>
          </a:prstGeom>
          <a:solidFill>
            <a:srgbClr val="37474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1133856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39896" y="1335024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Aladdin OMS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5074920" y="1078992"/>
            <a:ext cx="1234440" cy="566928"/>
          </a:xfrm>
          <a:prstGeom prst="rect">
            <a:avLst/>
          </a:prstGeom>
          <a:solidFill>
            <a:srgbClr val="37474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4" y="1133856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11496" y="1335024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6446520" y="1078992"/>
            <a:ext cx="1234440" cy="566928"/>
          </a:xfrm>
          <a:prstGeom prst="rect">
            <a:avLst/>
          </a:prstGeom>
          <a:solidFill>
            <a:srgbClr val="37474F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1133856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83096" y="1335024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 River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7818120" y="1078992"/>
            <a:ext cx="1234440" cy="566928"/>
          </a:xfrm>
          <a:prstGeom prst="rect">
            <a:avLst/>
          </a:prstGeom>
          <a:solidFill>
            <a:srgbClr val="37474F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2984" y="1133856"/>
            <a:ext cx="146304" cy="14630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854696" y="1335024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800" dirty="0"/>
          </a:p>
        </p:txBody>
      </p:sp>
      <p:sp>
        <p:nvSpPr>
          <p:cNvPr id="28" name="Shape 19"/>
          <p:cNvSpPr/>
          <p:nvPr/>
        </p:nvSpPr>
        <p:spPr>
          <a:xfrm>
            <a:off x="228600" y="1828800"/>
            <a:ext cx="8503920" cy="0"/>
          </a:xfrm>
          <a:prstGeom prst="line">
            <a:avLst/>
          </a:prstGeom>
          <a:noFill/>
          <a:ln w="6350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228600" y="1883664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IN THE PIPELINE (4 TRUST SIGNALS FAIL)</a:t>
            </a:r>
            <a:endParaRPr lang="en-US" sz="700" dirty="0"/>
          </a:p>
        </p:txBody>
      </p:sp>
      <p:sp>
        <p:nvSpPr>
          <p:cNvPr id="30" name="Shape 21"/>
          <p:cNvSpPr/>
          <p:nvPr/>
        </p:nvSpPr>
        <p:spPr>
          <a:xfrm>
            <a:off x="228600" y="2066544"/>
            <a:ext cx="1993392" cy="987552"/>
          </a:xfrm>
          <a:prstGeom prst="rect">
            <a:avLst/>
          </a:prstGeom>
          <a:solidFill>
            <a:srgbClr val="C0392B">
              <a:alpha val="12000"/>
            </a:srgbClr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2103120"/>
            <a:ext cx="118872" cy="11887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29768" y="20848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HR Record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274320" y="2258568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Was: HR Record Exists</a:t>
            </a:r>
            <a:endParaRPr lang="en-US" sz="650" dirty="0"/>
          </a:p>
        </p:txBody>
      </p:sp>
      <p:sp>
        <p:nvSpPr>
          <p:cNvPr id="34" name="Text 24"/>
          <p:cNvSpPr/>
          <p:nvPr/>
        </p:nvSpPr>
        <p:spPr>
          <a:xfrm>
            <a:off x="274320" y="2423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workers aren’t in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Workday. No employee ID.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start date. No manager.</a:t>
            </a:r>
            <a:endParaRPr lang="en-US" sz="700" dirty="0"/>
          </a:p>
        </p:txBody>
      </p:sp>
      <p:sp>
        <p:nvSpPr>
          <p:cNvPr id="35" name="Shape 25"/>
          <p:cNvSpPr/>
          <p:nvPr/>
        </p:nvSpPr>
        <p:spPr>
          <a:xfrm>
            <a:off x="2377440" y="2066544"/>
            <a:ext cx="1993392" cy="987552"/>
          </a:xfrm>
          <a:prstGeom prst="rect">
            <a:avLst/>
          </a:prstGeom>
          <a:solidFill>
            <a:srgbClr val="C0392B">
              <a:alpha val="12000"/>
            </a:srgbClr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3160" y="2103120"/>
            <a:ext cx="118872" cy="11887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2578608" y="20848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Do MFA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2423160" y="2258568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Was: MFA Authentication</a:t>
            </a:r>
            <a:endParaRPr lang="en-US" sz="650" dirty="0"/>
          </a:p>
        </p:txBody>
      </p:sp>
      <p:sp>
        <p:nvSpPr>
          <p:cNvPr id="39" name="Text 28"/>
          <p:cNvSpPr/>
          <p:nvPr/>
        </p:nvSpPr>
        <p:spPr>
          <a:xfrm>
            <a:off x="2423160" y="2423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fingerprint, no phone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Duo push. Can’t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to MFA challenge.</a:t>
            </a:r>
            <a:endParaRPr lang="en-US" sz="700" dirty="0"/>
          </a:p>
        </p:txBody>
      </p:sp>
      <p:sp>
        <p:nvSpPr>
          <p:cNvPr id="40" name="Shape 29"/>
          <p:cNvSpPr/>
          <p:nvPr/>
        </p:nvSpPr>
        <p:spPr>
          <a:xfrm>
            <a:off x="4526280" y="2066544"/>
            <a:ext cx="1993392" cy="987552"/>
          </a:xfrm>
          <a:prstGeom prst="rect">
            <a:avLst/>
          </a:prstGeom>
          <a:solidFill>
            <a:srgbClr val="C0392B">
              <a:alpha val="12000"/>
            </a:srgbClr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2103120"/>
            <a:ext cx="118872" cy="11887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727448" y="20848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Who’s the Manager?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4572000" y="2258568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Was: Manager Approves</a:t>
            </a:r>
            <a:endParaRPr lang="en-US" sz="650" dirty="0"/>
          </a:p>
        </p:txBody>
      </p:sp>
      <p:sp>
        <p:nvSpPr>
          <p:cNvPr id="44" name="Text 32"/>
          <p:cNvSpPr/>
          <p:nvPr/>
        </p:nvSpPr>
        <p:spPr>
          <a:xfrm>
            <a:off x="4572000" y="2423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in the org chart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“manages” an AI agent.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approves access?</a:t>
            </a:r>
            <a:endParaRPr lang="en-US" sz="700" dirty="0"/>
          </a:p>
        </p:txBody>
      </p:sp>
      <p:sp>
        <p:nvSpPr>
          <p:cNvPr id="45" name="Shape 33"/>
          <p:cNvSpPr/>
          <p:nvPr/>
        </p:nvSpPr>
        <p:spPr>
          <a:xfrm>
            <a:off x="6675120" y="2066544"/>
            <a:ext cx="1993392" cy="987552"/>
          </a:xfrm>
          <a:prstGeom prst="rect">
            <a:avLst/>
          </a:prstGeom>
          <a:solidFill>
            <a:srgbClr val="C0392B">
              <a:alpha val="12000"/>
            </a:srgbClr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840" y="2103120"/>
            <a:ext cx="118872" cy="11887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876288" y="20848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Certifies?</a:t>
            </a:r>
            <a:endParaRPr lang="en-US" sz="900" dirty="0"/>
          </a:p>
        </p:txBody>
      </p:sp>
      <p:sp>
        <p:nvSpPr>
          <p:cNvPr id="48" name="Text 35"/>
          <p:cNvSpPr/>
          <p:nvPr/>
        </p:nvSpPr>
        <p:spPr>
          <a:xfrm>
            <a:off x="6720840" y="2258568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Was: Periodic Certification</a:t>
            </a:r>
            <a:endParaRPr lang="en-US" sz="650" dirty="0"/>
          </a:p>
        </p:txBody>
      </p:sp>
      <p:sp>
        <p:nvSpPr>
          <p:cNvPr id="49" name="Text 36"/>
          <p:cNvSpPr/>
          <p:nvPr/>
        </p:nvSpPr>
        <p:spPr>
          <a:xfrm>
            <a:off x="6720840" y="2423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Brainwave sends cert 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manager who doesn’t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exist. Campaign stalls.</a:t>
            </a:r>
            <a:endParaRPr lang="en-US" sz="700" dirty="0"/>
          </a:p>
        </p:txBody>
      </p:sp>
      <p:sp>
        <p:nvSpPr>
          <p:cNvPr id="50" name="Shape 37"/>
          <p:cNvSpPr/>
          <p:nvPr/>
        </p:nvSpPr>
        <p:spPr>
          <a:xfrm>
            <a:off x="228600" y="3218688"/>
            <a:ext cx="8686800" cy="402336"/>
          </a:xfrm>
          <a:prstGeom prst="rect">
            <a:avLst/>
          </a:prstGeom>
          <a:solidFill>
            <a:srgbClr val="C6A74E">
              <a:alpha val="12000"/>
            </a:srgbClr>
          </a:solidFill>
          <a:ln w="25400">
            <a:solidFill>
              <a:srgbClr val="C6A74E"/>
            </a:solidFill>
            <a:prstDash val="solid"/>
          </a:ln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" y="3273552"/>
            <a:ext cx="237744" cy="237744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621792" y="3218688"/>
            <a:ext cx="8183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onboard a synthetic worker into the same Aquera → SailPoint → Brainwave pipeline when it has none of the human trust signals?</a:t>
            </a:r>
            <a:endParaRPr lang="en-US" sz="950" dirty="0"/>
          </a:p>
        </p:txBody>
      </p:sp>
      <p:sp>
        <p:nvSpPr>
          <p:cNvPr id="53" name="Shape 39"/>
          <p:cNvSpPr/>
          <p:nvPr/>
        </p:nvSpPr>
        <p:spPr>
          <a:xfrm>
            <a:off x="0" y="3785616"/>
            <a:ext cx="9144000" cy="0"/>
          </a:xfrm>
          <a:prstGeom prst="line">
            <a:avLst/>
          </a:prstGeom>
          <a:noFill/>
          <a:ln w="635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54" name="Text 40"/>
          <p:cNvSpPr/>
          <p:nvPr/>
        </p:nvSpPr>
        <p:spPr>
          <a:xfrm>
            <a:off x="228600" y="3840480"/>
            <a:ext cx="3657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NOT SOLVING THIS</a:t>
            </a:r>
            <a:endParaRPr lang="en-US" sz="650" dirty="0"/>
          </a:p>
        </p:txBody>
      </p:sp>
      <p:sp>
        <p:nvSpPr>
          <p:cNvPr id="55" name="Shape 41"/>
          <p:cNvSpPr/>
          <p:nvPr/>
        </p:nvSpPr>
        <p:spPr>
          <a:xfrm>
            <a:off x="228600" y="4005072"/>
            <a:ext cx="2011680" cy="310896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6" name="Text 42"/>
          <p:cNvSpPr/>
          <p:nvPr/>
        </p:nvSpPr>
        <p:spPr>
          <a:xfrm>
            <a:off x="274320" y="401421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 tasks/quarter</a:t>
            </a:r>
            <a:endParaRPr lang="en-US" sz="900" dirty="0"/>
          </a:p>
        </p:txBody>
      </p:sp>
      <p:sp>
        <p:nvSpPr>
          <p:cNvPr id="57" name="Text 43"/>
          <p:cNvSpPr/>
          <p:nvPr/>
        </p:nvSpPr>
        <p:spPr>
          <a:xfrm>
            <a:off x="274320" y="416052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processing continues</a:t>
            </a:r>
            <a:endParaRPr lang="en-US" sz="650" dirty="0"/>
          </a:p>
        </p:txBody>
      </p:sp>
      <p:sp>
        <p:nvSpPr>
          <p:cNvPr id="58" name="Shape 44"/>
          <p:cNvSpPr/>
          <p:nvPr/>
        </p:nvSpPr>
        <p:spPr>
          <a:xfrm>
            <a:off x="2404872" y="4005072"/>
            <a:ext cx="2011680" cy="310896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Text 45"/>
          <p:cNvSpPr/>
          <p:nvPr/>
        </p:nvSpPr>
        <p:spPr>
          <a:xfrm>
            <a:off x="2450592" y="401421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$280K/year wasted</a:t>
            </a:r>
            <a:endParaRPr lang="en-US" sz="900" dirty="0"/>
          </a:p>
        </p:txBody>
      </p:sp>
      <p:sp>
        <p:nvSpPr>
          <p:cNvPr id="60" name="Text 46"/>
          <p:cNvSpPr/>
          <p:nvPr/>
        </p:nvSpPr>
        <p:spPr>
          <a:xfrm>
            <a:off x="2450592" y="416052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 synthetic worker could do</a:t>
            </a:r>
            <a:endParaRPr lang="en-US" sz="650" dirty="0"/>
          </a:p>
        </p:txBody>
      </p:sp>
      <p:sp>
        <p:nvSpPr>
          <p:cNvPr id="61" name="Shape 47"/>
          <p:cNvSpPr/>
          <p:nvPr/>
        </p:nvSpPr>
        <p:spPr>
          <a:xfrm>
            <a:off x="4581144" y="4005072"/>
            <a:ext cx="2011680" cy="310896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4626864" y="401421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adoption path</a:t>
            </a:r>
            <a:endParaRPr lang="en-US" sz="900" dirty="0"/>
          </a:p>
        </p:txBody>
      </p:sp>
      <p:sp>
        <p:nvSpPr>
          <p:cNvPr id="63" name="Text 49"/>
          <p:cNvSpPr/>
          <p:nvPr/>
        </p:nvSpPr>
        <p:spPr>
          <a:xfrm>
            <a:off x="4626864" y="416052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deploying AI agents</a:t>
            </a:r>
            <a:endParaRPr lang="en-US" sz="650" dirty="0"/>
          </a:p>
        </p:txBody>
      </p:sp>
      <p:sp>
        <p:nvSpPr>
          <p:cNvPr id="64" name="Shape 50"/>
          <p:cNvSpPr/>
          <p:nvPr/>
        </p:nvSpPr>
        <p:spPr>
          <a:xfrm>
            <a:off x="6757416" y="4005072"/>
            <a:ext cx="2011680" cy="310896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5" name="Text 51"/>
          <p:cNvSpPr/>
          <p:nvPr/>
        </p:nvSpPr>
        <p:spPr>
          <a:xfrm>
            <a:off x="6803136" y="401421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risk</a:t>
            </a:r>
            <a:endParaRPr lang="en-US" sz="900" dirty="0"/>
          </a:p>
        </p:txBody>
      </p:sp>
      <p:sp>
        <p:nvSpPr>
          <p:cNvPr id="66" name="Text 52"/>
          <p:cNvSpPr/>
          <p:nvPr/>
        </p:nvSpPr>
        <p:spPr>
          <a:xfrm>
            <a:off x="6803136" y="416052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Ungoverned agents bypass pipeline</a:t>
            </a:r>
            <a:endParaRPr lang="en-US" sz="650" dirty="0"/>
          </a:p>
        </p:txBody>
      </p:sp>
      <p:sp>
        <p:nvSpPr>
          <p:cNvPr id="67" name="Text 53"/>
          <p:cNvSpPr/>
          <p:nvPr/>
        </p:nvSpPr>
        <p:spPr>
          <a:xfrm>
            <a:off x="228600" y="440740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provides the bridge: it creates the trust signals that the pipeline needs to govern a synthetic worker.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6A7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TO-BE: Atlas Bridges Synthetic Worker into the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Request → AI ROC Approval → Atlas creates trust signals → Same pipeline governs the worker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89611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FLOW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1280160" cy="475488"/>
          </a:xfrm>
          <a:prstGeom prst="rect">
            <a:avLst/>
          </a:prstGeom>
          <a:solidFill>
            <a:srgbClr val="546E7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" y="1115568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5176" y="1261872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Req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5176" y="138988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team requests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worker</a:t>
            </a:r>
            <a:endParaRPr lang="en-US" sz="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1261872"/>
            <a:ext cx="128016" cy="1280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783080" y="1078992"/>
            <a:ext cx="1280160" cy="475488"/>
          </a:xfrm>
          <a:prstGeom prst="rect">
            <a:avLst/>
          </a:prstGeom>
          <a:solidFill>
            <a:srgbClr val="B71C1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4" y="1115568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19656" y="1261872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ROC Review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819656" y="138988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approval</a:t>
            </a:r>
            <a:endParaRPr lang="en-US" sz="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261872"/>
            <a:ext cx="128016" cy="12801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337560" y="1078992"/>
            <a:ext cx="1280160" cy="475488"/>
          </a:xfrm>
          <a:prstGeom prst="rect">
            <a:avLst/>
          </a:prstGeom>
          <a:solidFill>
            <a:srgbClr val="455A6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1115568"/>
            <a:ext cx="146304" cy="1463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74136" y="1261872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Team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3374136" y="138988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approved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6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1261872"/>
            <a:ext cx="128016" cy="128016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892040" y="1078992"/>
            <a:ext cx="1280160" cy="475488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904" y="1115568"/>
            <a:ext cx="146304" cy="14630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28616" y="1261872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Onboards</a:t>
            </a:r>
            <a:endParaRPr lang="en-US" sz="800" dirty="0"/>
          </a:p>
        </p:txBody>
      </p:sp>
      <p:sp>
        <p:nvSpPr>
          <p:cNvPr id="24" name="Text 15"/>
          <p:cNvSpPr/>
          <p:nvPr/>
        </p:nvSpPr>
        <p:spPr>
          <a:xfrm>
            <a:off x="4928616" y="138988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trust signals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pipeline</a:t>
            </a:r>
            <a:endParaRPr lang="en-US" sz="600" dirty="0"/>
          </a:p>
        </p:txBody>
      </p:sp>
      <p:sp>
        <p:nvSpPr>
          <p:cNvPr id="25" name="Shape 16"/>
          <p:cNvSpPr/>
          <p:nvPr/>
        </p:nvSpPr>
        <p:spPr>
          <a:xfrm>
            <a:off x="228600" y="1719072"/>
            <a:ext cx="8503920" cy="0"/>
          </a:xfrm>
          <a:prstGeom prst="line">
            <a:avLst/>
          </a:prstGeom>
          <a:noFill/>
          <a:ln w="6350">
            <a:solidFill>
              <a:srgbClr val="E67E22">
                <a:alpha val="50000"/>
              </a:srgbClr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228600" y="1773936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CREATES THE TRUST SIGNALS</a:t>
            </a:r>
            <a:endParaRPr lang="en-US" sz="700" dirty="0"/>
          </a:p>
        </p:txBody>
      </p:sp>
      <p:sp>
        <p:nvSpPr>
          <p:cNvPr id="27" name="Text 18"/>
          <p:cNvSpPr/>
          <p:nvPr/>
        </p:nvSpPr>
        <p:spPr>
          <a:xfrm>
            <a:off x="6766560" y="177393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PIPELINE</a:t>
            </a:r>
            <a:endParaRPr lang="en-US" sz="700" dirty="0"/>
          </a:p>
        </p:txBody>
      </p:sp>
      <p:sp>
        <p:nvSpPr>
          <p:cNvPr id="28" name="Shape 19"/>
          <p:cNvSpPr/>
          <p:nvPr/>
        </p:nvSpPr>
        <p:spPr>
          <a:xfrm>
            <a:off x="228600" y="1956816"/>
            <a:ext cx="1298448" cy="384048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464" y="1993392"/>
            <a:ext cx="146304" cy="14630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265176" y="213969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Authority</a:t>
            </a:r>
            <a:endParaRPr lang="en-US" sz="850" dirty="0"/>
          </a:p>
        </p:txBody>
      </p:sp>
      <p:sp>
        <p:nvSpPr>
          <p:cNvPr id="31" name="Shape 21"/>
          <p:cNvSpPr/>
          <p:nvPr/>
        </p:nvSpPr>
        <p:spPr>
          <a:xfrm>
            <a:off x="338328" y="2377440"/>
            <a:ext cx="1078992" cy="155448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338328" y="2377440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Solves: No HR Record</a:t>
            </a:r>
            <a:endParaRPr lang="en-US" sz="550" dirty="0"/>
          </a:p>
        </p:txBody>
      </p:sp>
      <p:sp>
        <p:nvSpPr>
          <p:cNvPr id="33" name="Shape 23"/>
          <p:cNvSpPr/>
          <p:nvPr/>
        </p:nvSpPr>
        <p:spPr>
          <a:xfrm>
            <a:off x="1691640" y="1956816"/>
            <a:ext cx="1298448" cy="384048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504" y="1993392"/>
            <a:ext cx="146304" cy="14630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728216" y="213969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Auth</a:t>
            </a:r>
            <a:endParaRPr lang="en-US" sz="850" dirty="0"/>
          </a:p>
        </p:txBody>
      </p:sp>
      <p:sp>
        <p:nvSpPr>
          <p:cNvPr id="36" name="Shape 25"/>
          <p:cNvSpPr/>
          <p:nvPr/>
        </p:nvSpPr>
        <p:spPr>
          <a:xfrm>
            <a:off x="1801368" y="2377440"/>
            <a:ext cx="1078992" cy="155448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1801368" y="2377440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Solves: Can’t Do MFA</a:t>
            </a:r>
            <a:endParaRPr lang="en-US" sz="550" dirty="0"/>
          </a:p>
        </p:txBody>
      </p:sp>
      <p:sp>
        <p:nvSpPr>
          <p:cNvPr id="38" name="Shape 27"/>
          <p:cNvSpPr/>
          <p:nvPr/>
        </p:nvSpPr>
        <p:spPr>
          <a:xfrm>
            <a:off x="3154680" y="1956816"/>
            <a:ext cx="1298448" cy="384048"/>
          </a:xfrm>
          <a:prstGeom prst="rect">
            <a:avLst/>
          </a:prstGeom>
          <a:solidFill>
            <a:srgbClr val="BF360C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9544" y="1993392"/>
            <a:ext cx="146304" cy="14630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191256" y="213969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+ Sponsor</a:t>
            </a:r>
            <a:endParaRPr lang="en-US" sz="850" dirty="0"/>
          </a:p>
        </p:txBody>
      </p:sp>
      <p:sp>
        <p:nvSpPr>
          <p:cNvPr id="41" name="Shape 29"/>
          <p:cNvSpPr/>
          <p:nvPr/>
        </p:nvSpPr>
        <p:spPr>
          <a:xfrm>
            <a:off x="3264408" y="2377440"/>
            <a:ext cx="1078992" cy="155448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3264408" y="2377440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Solves: No Manager</a:t>
            </a:r>
            <a:endParaRPr lang="en-US" sz="550" dirty="0"/>
          </a:p>
        </p:txBody>
      </p:sp>
      <p:sp>
        <p:nvSpPr>
          <p:cNvPr id="43" name="Shape 31"/>
          <p:cNvSpPr/>
          <p:nvPr/>
        </p:nvSpPr>
        <p:spPr>
          <a:xfrm>
            <a:off x="4617720" y="1956816"/>
            <a:ext cx="1298448" cy="384048"/>
          </a:xfrm>
          <a:prstGeom prst="rect">
            <a:avLst/>
          </a:prstGeom>
          <a:solidFill>
            <a:srgbClr val="D84315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2584" y="1993392"/>
            <a:ext cx="146304" cy="146304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4654296" y="213969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Engine</a:t>
            </a:r>
            <a:endParaRPr lang="en-US" sz="850" dirty="0"/>
          </a:p>
        </p:txBody>
      </p:sp>
      <p:sp>
        <p:nvSpPr>
          <p:cNvPr id="46" name="Shape 33"/>
          <p:cNvSpPr/>
          <p:nvPr/>
        </p:nvSpPr>
        <p:spPr>
          <a:xfrm>
            <a:off x="4727448" y="2377440"/>
            <a:ext cx="1078992" cy="155448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4727448" y="2377440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Solves: No Certifier</a:t>
            </a:r>
            <a:endParaRPr lang="en-US" sz="550" dirty="0"/>
          </a:p>
        </p:txBody>
      </p:sp>
      <p:sp>
        <p:nvSpPr>
          <p:cNvPr id="48" name="Text 35"/>
          <p:cNvSpPr/>
          <p:nvPr/>
        </p:nvSpPr>
        <p:spPr>
          <a:xfrm>
            <a:off x="6172200" y="20482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→</a:t>
            </a:r>
            <a:endParaRPr lang="en-US" sz="700" dirty="0"/>
          </a:p>
        </p:txBody>
      </p:sp>
      <p:sp>
        <p:nvSpPr>
          <p:cNvPr id="49" name="Shape 36"/>
          <p:cNvSpPr/>
          <p:nvPr/>
        </p:nvSpPr>
        <p:spPr>
          <a:xfrm>
            <a:off x="6766560" y="1956816"/>
            <a:ext cx="2103120" cy="292608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1424" y="1993392"/>
            <a:ext cx="128016" cy="128016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967728" y="197510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AQUERA — Apps onboarded</a:t>
            </a:r>
            <a:endParaRPr lang="en-US" sz="750" dirty="0"/>
          </a:p>
        </p:txBody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44968" y="2286000"/>
            <a:ext cx="128016" cy="128016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6766560" y="2450592"/>
            <a:ext cx="2103120" cy="292608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21424" y="2487168"/>
            <a:ext cx="128016" cy="128016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6967728" y="24688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 — Provisions access</a:t>
            </a:r>
            <a:endParaRPr lang="en-US" sz="750" dirty="0"/>
          </a:p>
        </p:txBody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44968" y="2779776"/>
            <a:ext cx="128016" cy="128016"/>
          </a:xfrm>
          <a:prstGeom prst="rect">
            <a:avLst/>
          </a:prstGeom>
        </p:spPr>
      </p:pic>
      <p:sp>
        <p:nvSpPr>
          <p:cNvPr id="57" name="Shape 40"/>
          <p:cNvSpPr/>
          <p:nvPr/>
        </p:nvSpPr>
        <p:spPr>
          <a:xfrm>
            <a:off x="6766560" y="2944368"/>
            <a:ext cx="2103120" cy="292608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21424" y="2980944"/>
            <a:ext cx="128016" cy="128016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6967728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BRAINWAVE — Certifies access</a:t>
            </a:r>
            <a:endParaRPr lang="en-US" sz="750" dirty="0"/>
          </a:p>
        </p:txBody>
      </p:sp>
      <p:sp>
        <p:nvSpPr>
          <p:cNvPr id="60" name="Shape 42"/>
          <p:cNvSpPr/>
          <p:nvPr/>
        </p:nvSpPr>
        <p:spPr>
          <a:xfrm>
            <a:off x="228600" y="3401568"/>
            <a:ext cx="8686800" cy="329184"/>
          </a:xfrm>
          <a:prstGeom prst="rect">
            <a:avLst/>
          </a:prstGeom>
          <a:solidFill>
            <a:srgbClr val="1A1A2E"/>
          </a:solidFill>
          <a:ln w="25400">
            <a:solidFill>
              <a:srgbClr val="C6A74E"/>
            </a:solidFill>
            <a:prstDash val="solid"/>
          </a:ln>
        </p:spPr>
      </p:sp>
      <p:sp>
        <p:nvSpPr>
          <p:cNvPr id="61" name="Text 43"/>
          <p:cNvSpPr/>
          <p:nvPr/>
        </p:nvSpPr>
        <p:spPr>
          <a:xfrm>
            <a:off x="320040" y="340156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doesn’t replace </a:t>
            </a:r>
            <a:pPr indent="0" marL="0">
              <a:buNone/>
            </a:pPr>
            <a:r>
              <a:rPr lang="en-US" sz="900" b="1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Aquera, SailPoint, or Brainwave.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creates the trust signals the pipeline needs to govern a synthetic worker like a human.</a:t>
            </a:r>
            <a:endParaRPr lang="en-US" sz="900" dirty="0"/>
          </a:p>
        </p:txBody>
      </p:sp>
      <p:sp>
        <p:nvSpPr>
          <p:cNvPr id="62" name="Shape 44"/>
          <p:cNvSpPr/>
          <p:nvPr/>
        </p:nvSpPr>
        <p:spPr>
          <a:xfrm>
            <a:off x="0" y="3858768"/>
            <a:ext cx="9144000" cy="0"/>
          </a:xfrm>
          <a:prstGeom prst="line">
            <a:avLst/>
          </a:prstGeom>
          <a:noFill/>
          <a:ln w="6350">
            <a:solidFill>
              <a:srgbClr val="27AE60">
                <a:alpha val="60000"/>
              </a:srgbClr>
            </a:solidFill>
            <a:prstDash val="solid"/>
          </a:ln>
        </p:spPr>
      </p:sp>
      <p:sp>
        <p:nvSpPr>
          <p:cNvPr id="63" name="Text 45"/>
          <p:cNvSpPr/>
          <p:nvPr/>
        </p:nvSpPr>
        <p:spPr>
          <a:xfrm>
            <a:off x="228600" y="3913632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VALUE WITH SYNTHETIC WORKER</a:t>
            </a:r>
            <a:endParaRPr lang="en-US" sz="650" dirty="0"/>
          </a:p>
        </p:txBody>
      </p:sp>
      <p:sp>
        <p:nvSpPr>
          <p:cNvPr id="64" name="Shape 46"/>
          <p:cNvSpPr/>
          <p:nvPr/>
        </p:nvSpPr>
        <p:spPr>
          <a:xfrm>
            <a:off x="228600" y="4059936"/>
            <a:ext cx="1627632" cy="292608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5" name="Text 47"/>
          <p:cNvSpPr/>
          <p:nvPr/>
        </p:nvSpPr>
        <p:spPr>
          <a:xfrm>
            <a:off x="265176" y="406908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 min/task</a:t>
            </a:r>
            <a:endParaRPr lang="en-US" sz="900" dirty="0"/>
          </a:p>
        </p:txBody>
      </p:sp>
      <p:sp>
        <p:nvSpPr>
          <p:cNvPr id="66" name="Text 48"/>
          <p:cNvSpPr/>
          <p:nvPr/>
        </p:nvSpPr>
        <p:spPr>
          <a:xfrm>
            <a:off x="265176" y="42062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25x faster than human</a:t>
            </a:r>
            <a:endParaRPr lang="en-US" sz="650" dirty="0"/>
          </a:p>
        </p:txBody>
      </p:sp>
      <p:sp>
        <p:nvSpPr>
          <p:cNvPr id="67" name="Shape 49"/>
          <p:cNvSpPr/>
          <p:nvPr/>
        </p:nvSpPr>
        <p:spPr>
          <a:xfrm>
            <a:off x="1984248" y="4059936"/>
            <a:ext cx="1627632" cy="292608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8" name="Text 50"/>
          <p:cNvSpPr/>
          <p:nvPr/>
        </p:nvSpPr>
        <p:spPr>
          <a:xfrm>
            <a:off x="2020824" y="406908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$0.05/application</a:t>
            </a:r>
            <a:endParaRPr lang="en-US" sz="900" dirty="0"/>
          </a:p>
        </p:txBody>
      </p:sp>
      <p:sp>
        <p:nvSpPr>
          <p:cNvPr id="69" name="Text 51"/>
          <p:cNvSpPr/>
          <p:nvPr/>
        </p:nvSpPr>
        <p:spPr>
          <a:xfrm>
            <a:off x="2020824" y="42062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700x cost reduction</a:t>
            </a:r>
            <a:endParaRPr lang="en-US" sz="650" dirty="0"/>
          </a:p>
        </p:txBody>
      </p:sp>
      <p:sp>
        <p:nvSpPr>
          <p:cNvPr id="70" name="Shape 52"/>
          <p:cNvSpPr/>
          <p:nvPr/>
        </p:nvSpPr>
        <p:spPr>
          <a:xfrm>
            <a:off x="3739896" y="4059936"/>
            <a:ext cx="1627632" cy="292608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1" name="Text 53"/>
          <p:cNvSpPr/>
          <p:nvPr/>
        </p:nvSpPr>
        <p:spPr>
          <a:xfrm>
            <a:off x="3776472" y="406908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$324K/year saved</a:t>
            </a:r>
            <a:endParaRPr lang="en-US" sz="900" dirty="0"/>
          </a:p>
        </p:txBody>
      </p:sp>
      <p:sp>
        <p:nvSpPr>
          <p:cNvPr id="72" name="Text 54"/>
          <p:cNvSpPr/>
          <p:nvPr/>
        </p:nvSpPr>
        <p:spPr>
          <a:xfrm>
            <a:off x="3776472" y="42062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per app</a:t>
            </a:r>
            <a:endParaRPr lang="en-US" sz="650" dirty="0"/>
          </a:p>
        </p:txBody>
      </p:sp>
      <p:sp>
        <p:nvSpPr>
          <p:cNvPr id="73" name="Shape 55"/>
          <p:cNvSpPr/>
          <p:nvPr/>
        </p:nvSpPr>
        <p:spPr>
          <a:xfrm>
            <a:off x="5495544" y="4059936"/>
            <a:ext cx="1627632" cy="292608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4" name="Text 56"/>
          <p:cNvSpPr/>
          <p:nvPr/>
        </p:nvSpPr>
        <p:spPr>
          <a:xfrm>
            <a:off x="5532120" y="406908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SoD check</a:t>
            </a:r>
            <a:endParaRPr lang="en-US" sz="900" dirty="0"/>
          </a:p>
        </p:txBody>
      </p:sp>
      <p:sp>
        <p:nvSpPr>
          <p:cNvPr id="75" name="Text 57"/>
          <p:cNvSpPr/>
          <p:nvPr/>
        </p:nvSpPr>
        <p:spPr>
          <a:xfrm>
            <a:off x="5532120" y="42062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RadiantOne + SailPoint</a:t>
            </a:r>
            <a:endParaRPr lang="en-US" sz="650" dirty="0"/>
          </a:p>
        </p:txBody>
      </p:sp>
      <p:sp>
        <p:nvSpPr>
          <p:cNvPr id="76" name="Shape 58"/>
          <p:cNvSpPr/>
          <p:nvPr/>
        </p:nvSpPr>
        <p:spPr>
          <a:xfrm>
            <a:off x="7251192" y="4059936"/>
            <a:ext cx="1627632" cy="292608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7" name="Text 59"/>
          <p:cNvSpPr/>
          <p:nvPr/>
        </p:nvSpPr>
        <p:spPr>
          <a:xfrm>
            <a:off x="7287768" y="406908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provenance</a:t>
            </a:r>
            <a:endParaRPr lang="en-US" sz="900" dirty="0"/>
          </a:p>
        </p:txBody>
      </p:sp>
      <p:sp>
        <p:nvSpPr>
          <p:cNvPr id="78" name="Text 60"/>
          <p:cNvSpPr/>
          <p:nvPr/>
        </p:nvSpPr>
        <p:spPr>
          <a:xfrm>
            <a:off x="7287768" y="42062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Atlas+SailPoint+Brainwave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2026-03-12T02:29:20Z</dcterms:created>
  <dcterms:modified xsi:type="dcterms:W3CDTF">2026-03-12T02:29:20Z</dcterms:modified>
</cp:coreProperties>
</file>