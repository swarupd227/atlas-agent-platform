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88952" cy="67116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-457200"/>
            <a:ext cx="4114800" cy="4114800"/>
          </a:xfrm>
          <a:prstGeom prst="ellipse">
            <a:avLst/>
          </a:prstGeom>
          <a:solidFill>
            <a:srgbClr val="0D2045"/>
          </a:solidFill>
          <a:ln w="12700">
            <a:solidFill>
              <a:srgbClr val="0D20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AGENTS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Platform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Internal Working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32004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Agent Lifecycle Management Platform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Client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1556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this session — estimated 25 minutes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39496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188720"/>
            <a:ext cx="27432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344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of managing AI agents at enterprise scale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39496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1887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20840" y="1188720"/>
            <a:ext cx="27432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2344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Atlas?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15544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 and core value proposition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539496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945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2194560"/>
            <a:ext cx="27432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2402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5603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that differentiate Atlas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2194560"/>
            <a:ext cx="539496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1945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720840" y="2194560"/>
            <a:ext cx="27432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2402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25603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is structured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539496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004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68680" y="3200400"/>
            <a:ext cx="27432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2461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Deep-Dive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5661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responsibilities of each module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200400"/>
            <a:ext cx="539496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2004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720840" y="3200400"/>
            <a:ext cx="27432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32461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12280" y="35661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moves through the platform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206240"/>
            <a:ext cx="539496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2062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68680" y="4206240"/>
            <a:ext cx="27432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42519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" y="45720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frameworks, and tools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4206240"/>
            <a:ext cx="539496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42062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720840" y="4206240"/>
            <a:ext cx="27432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42519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12280" y="45720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PII masking, and policy enforcement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5212080"/>
            <a:ext cx="539496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52120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868680" y="5212080"/>
            <a:ext cx="27432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0120" y="52578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Resilience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60120" y="55778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Atlas stays reliable under load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17920" y="5212080"/>
            <a:ext cx="539496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52120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6720840" y="5212080"/>
            <a:ext cx="27432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12280" y="52578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12280" y="55778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Telemetry, KPIs, and self-healing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65760" y="6217920"/>
            <a:ext cx="539496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62179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868680" y="6217920"/>
            <a:ext cx="27432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0120" y="6263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60120" y="6583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and release strategy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217920" y="6217920"/>
            <a:ext cx="539496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0" y="62179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6720840" y="6217920"/>
            <a:ext cx="27432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12280" y="6263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Q&amp;A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812280" y="6583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 and open discussion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1556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managing AI agents at enterprise scale is hard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486400" cy="1463040"/>
          </a:xfrm>
          <a:prstGeom prst="rect">
            <a:avLst/>
          </a:prstGeom>
          <a:solidFill>
            <a:srgbClr val="11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No Governance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run without policies, leading to compliance failures and unpredictable behavior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486400" cy="1463040"/>
          </a:xfrm>
          <a:prstGeom prst="rect">
            <a:avLst/>
          </a:prstGeom>
          <a:solidFill>
            <a:srgbClr val="11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Siloed Tooling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7373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teams build agents differently — no standardization, no shared context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5486400" cy="1463040"/>
          </a:xfrm>
          <a:prstGeom prst="rect">
            <a:avLst/>
          </a:prstGeom>
          <a:solidFill>
            <a:srgbClr val="11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Black-Box Operations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what agents are doing, why decisions were made, or when they fail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880360"/>
            <a:ext cx="5486400" cy="1463040"/>
          </a:xfrm>
          <a:prstGeom prst="rect">
            <a:avLst/>
          </a:prstGeom>
          <a:solidFill>
            <a:srgbClr val="11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017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Risky Deployments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3832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deployed directly to production with no staging, canary rollouts, or rollback plans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526280"/>
            <a:ext cx="5486400" cy="1463040"/>
          </a:xfrm>
          <a:prstGeom prst="rect">
            <a:avLst/>
          </a:prstGeom>
          <a:solidFill>
            <a:srgbClr val="11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663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Manual Validation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0292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 are ad hoc — no systematic evaluation against golden benchmarks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4526280"/>
            <a:ext cx="5486400" cy="1463040"/>
          </a:xfrm>
          <a:prstGeom prst="rect">
            <a:avLst/>
          </a:prstGeom>
          <a:solidFill>
            <a:srgbClr val="11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663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Fragmented Knowledge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50292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knowledge lives in documents and silos — agents cannot access or reason over 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high cost, high risk, slow time-to-value from AI investments.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1556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Atlas?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AI agent lifecycle management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1371600"/>
          </a:xfrm>
          <a:prstGeom prst="rect">
            <a:avLst/>
          </a:prstGeom>
          <a:solidFill>
            <a:srgbClr val="0D1F3C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(ASTRA Agents) is a full-lifecycle platform that helps enterprises design, test, govern, deploy, and monitor AI agents at scale — with built-in compliance, multi-tenancy, and business-outcome alignment baked in from the ground up.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1783080" cy="1645920"/>
          </a:xfrm>
          <a:prstGeom prst="rect">
            <a:avLst/>
          </a:prstGeom>
          <a:solidFill>
            <a:srgbClr val="0D1F3C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834640"/>
            <a:ext cx="178308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71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Lifecycle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67712" y="2834640"/>
            <a:ext cx="1783080" cy="1645920"/>
          </a:xfrm>
          <a:prstGeom prst="rect">
            <a:avLst/>
          </a:prstGeom>
          <a:solidFill>
            <a:srgbClr val="0D1F3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7712" y="2834640"/>
            <a:ext cx="17830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2971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67712" y="352044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9664" y="2834640"/>
            <a:ext cx="1783080" cy="1645920"/>
          </a:xfrm>
          <a:prstGeom prst="rect">
            <a:avLst/>
          </a:prstGeom>
          <a:solidFill>
            <a:srgbClr val="0D1F3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9664" y="2834640"/>
            <a:ext cx="17830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9664" y="2971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69664" y="352044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Deployment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71616" y="2834640"/>
            <a:ext cx="1783080" cy="1645920"/>
          </a:xfrm>
          <a:prstGeom prst="rect">
            <a:avLst/>
          </a:prstGeom>
          <a:solidFill>
            <a:srgbClr val="0D1F3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2834640"/>
            <a:ext cx="17830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71616" y="2971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71616" y="352044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(RAG)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73568" y="2834640"/>
            <a:ext cx="1783080" cy="1645920"/>
          </a:xfrm>
          <a:prstGeom prst="rect">
            <a:avLst/>
          </a:prstGeom>
          <a:solidFill>
            <a:srgbClr val="0D1F3C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3568" y="2834640"/>
            <a:ext cx="17830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2971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973568" y="352044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875520" y="2834640"/>
            <a:ext cx="1783080" cy="1645920"/>
          </a:xfrm>
          <a:prstGeom prst="rect">
            <a:avLst/>
          </a:prstGeom>
          <a:solidFill>
            <a:srgbClr val="0D1F3C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0" y="2834640"/>
            <a:ext cx="17830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0" y="2971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🔌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875520" y="352044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663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983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Blueprint-first creation · Outcome-contract-driven KPIs · Policy enforcement at every layer · Zero-trust multi-tenancy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5486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Personas: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583387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520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833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331720" y="583387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520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5833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Engineer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97680" y="583387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520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5833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Owner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63640" y="583387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520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5833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Validator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229600" y="583387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520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5833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Stakeholder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195560" y="583387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520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95560" y="5833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1556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that make Atlas enterprise-ready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74904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64008" cy="1691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Studio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drag-and-drop agent designer. Define system prompts, tools, MCP bindings, skills, LLM provider selection, and trigger conditions before a single line runs.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79392" y="1234440"/>
            <a:ext cx="374904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9392" y="123444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325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Replay Studio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16552" y="169164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historical production conversations against new agent versions in a safe sandbox — catch regressions before they hit users.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38744" y="1234440"/>
            <a:ext cx="374904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38744" y="1234440"/>
            <a:ext cx="6400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1325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Deployment Console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75904" y="169164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agents from Dev → Staging → Prod with configurable traffic splits (1% → 10% → 100%) and automatic rollback on KPI breach.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374904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108960"/>
            <a:ext cx="64008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00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Studio &amp; Golden Datasets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evaluation using DeepEval metrics: Faithfulness, Hallucination, Toxicity, Bias, Answer Relevance. Supports bulk CSV/JSONL import.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79392" y="3108960"/>
            <a:ext cx="374904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79392" y="310896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6552" y="3200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Policy Engine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16552" y="35661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policy bundles to Atlas Agent Runtime (AAR) sidecars. Enforces data-handling, access, and behavioral policies at inference time.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38744" y="3108960"/>
            <a:ext cx="374904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38744" y="310896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75904" y="3200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(RAG)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75904" y="35661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Vector-embedded document collections with web-crawl and structured-data import. Agents retrieve context at runtime via the MCP Semantic Layer.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983480"/>
            <a:ext cx="374904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983480"/>
            <a:ext cx="64008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0749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Engine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54406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detects and masks sensitive data before it reaches LLMs. Rehydrates after inference so downstream consumers see original values.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79392" y="4983480"/>
            <a:ext cx="374904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79392" y="498348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16552" y="50749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Contracts &amp; KPIs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416552" y="54406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 are codified as contracts with measurable SLA thresholds. Agents report progress against these contracts in real time.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38744" y="4983480"/>
            <a:ext cx="374904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38744" y="4983480"/>
            <a:ext cx="64008" cy="1691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75904" y="50749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375904" y="54406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Team-based pipelines where a coordinator agent delegates to specialist sub-agents. Full audit trail across the entire team run.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560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28600" y="3017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the pieces fit together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" y="640080"/>
            <a:ext cx="11795760" cy="868680"/>
          </a:xfrm>
          <a:prstGeom prst="rect">
            <a:avLst/>
          </a:prstGeom>
          <a:solidFill>
            <a:srgbClr val="0D2A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85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37160" y="1600200"/>
            <a:ext cx="11795760" cy="777240"/>
          </a:xfrm>
          <a:prstGeom prst="rect">
            <a:avLst/>
          </a:prstGeom>
          <a:solidFill>
            <a:srgbClr val="0A223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GATEWAY LAYER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2468880"/>
            <a:ext cx="11795760" cy="1097280"/>
          </a:xfrm>
          <a:prstGeom prst="rect">
            <a:avLst/>
          </a:prstGeom>
          <a:solidFill>
            <a:srgbClr val="0D1F1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 LAYER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37160" y="3657600"/>
            <a:ext cx="11795760" cy="960120"/>
          </a:xfrm>
          <a:prstGeom prst="rect">
            <a:avLst/>
          </a:prstGeom>
          <a:solidFill>
            <a:srgbClr val="0A1A0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3703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&amp; EVAL LAYER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7160" y="4709160"/>
            <a:ext cx="11795760" cy="868680"/>
          </a:xfrm>
          <a:prstGeom prst="rect">
            <a:avLst/>
          </a:prstGeom>
          <a:solidFill>
            <a:srgbClr val="1A1A0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INTEGRATION LAYER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" y="749808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74980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 Portal)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40280" y="749808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74980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(Simplified UX)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60520" y="749808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74980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749808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74980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Studio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01000" y="749808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74980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921240" y="749808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74980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1709928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0D3050"/>
          </a:solidFill>
          <a:ln w="12700">
            <a:solidFill>
              <a:srgbClr val="0D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7099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REST 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06240" y="1709928"/>
            <a:ext cx="3474720" cy="475488"/>
          </a:xfrm>
          <a:prstGeom prst="roundRect">
            <a:avLst>
              <a:gd name="adj" fmla="val 11538"/>
            </a:avLst>
          </a:prstGeom>
          <a:solidFill>
            <a:srgbClr val="0D3050"/>
          </a:solidFill>
          <a:ln w="12700">
            <a:solidFill>
              <a:srgbClr val="0D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170992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API Gateway (Webhooks)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18120" y="1709928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0D3050"/>
          </a:solidFill>
          <a:ln w="12700">
            <a:solidFill>
              <a:srgbClr val="0D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170992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Multi-Tenancy Middleware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2578608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578608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Lifecycle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2578608"/>
            <a:ext cx="169164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48840" y="2578608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48840" y="2578608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48840" y="2578608"/>
            <a:ext cx="16916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77640" y="2578608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77640" y="2578608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77640" y="2578608"/>
            <a:ext cx="16916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06440" y="2578608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06440" y="2578608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&amp; Golden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06440" y="2578608"/>
            <a:ext cx="16916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35240" y="2578608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2578608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635240" y="2578608"/>
            <a:ext cx="1691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64040" y="2578608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64040" y="2578608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464040" y="2578608"/>
            <a:ext cx="16916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" y="3767328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0A200A"/>
          </a:solidFill>
          <a:ln w="12700">
            <a:solidFill>
              <a:srgbClr val="0A200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3767328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Agent Runtime (AAR)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Sidecar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" y="3767328"/>
            <a:ext cx="4572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0" y="3767328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0A200A"/>
          </a:solidFill>
          <a:ln w="12700">
            <a:solidFill>
              <a:srgbClr val="0A200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3767328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29200" y="3767328"/>
            <a:ext cx="32004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12480" y="3767328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0A200A"/>
          </a:solidFill>
          <a:ln w="12700">
            <a:solidFill>
              <a:srgbClr val="0A200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0" y="3767328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 Layer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412480" y="3767328"/>
            <a:ext cx="32004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0040" y="481888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152535"/>
          </a:solidFill>
          <a:ln w="12700">
            <a:solidFill>
              <a:srgbClr val="15253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481888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(Drizzle ORM)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606040" y="481888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152535"/>
          </a:solidFill>
          <a:ln w="12700">
            <a:solidFill>
              <a:srgbClr val="15253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06040" y="481888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 / Anthropic / Gemini)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897880" y="481888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152535"/>
          </a:solidFill>
          <a:ln w="12700">
            <a:solidFill>
              <a:srgbClr val="15253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97880" y="481888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MCP Servers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 Tools)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549640" y="481888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152535"/>
          </a:solidFill>
          <a:ln w="12700">
            <a:solidFill>
              <a:srgbClr val="1525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49640" y="481888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(Slack, Jira, Salesforce…)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37160" y="5742432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—  Every agent invocation flows top-down through these layers, with policy checks and telemetry emitted at each boundary.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1556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Breakdown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responsibilities of each major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577840" cy="1207008"/>
          </a:xfrm>
          <a:prstGeom prst="rect">
            <a:avLst/>
          </a:prstGeom>
          <a:solidFill>
            <a:srgbClr val="0A1628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557784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for all roles. Routes, state, and API calls. Uses Wouter for routing, TanStack Query for data fetching, shadcn/ui for components.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577840" cy="1207008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188720"/>
            <a:ext cx="55778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2801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162763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server. Thin routes delegate to storage interface. Handles auth middleware, request validation (Zod), and response shaping.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5577840" cy="1207008"/>
          </a:xfrm>
          <a:prstGeom prst="rect">
            <a:avLst/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60320"/>
            <a:ext cx="55778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Agent Runtime (AAR)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99923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sidecar that wraps every agent execution. Enforces policy bundles, captures telemetry, manages credentials, and emits audit events.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560320"/>
            <a:ext cx="5577840" cy="1207008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560320"/>
            <a:ext cx="55778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6517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Service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99923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Python/FastAPI microservice. Scores agent outputs against AI quality metrics: Faithfulness, Hallucination Score, Toxicity, Bias, Answer Relevance.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931920"/>
            <a:ext cx="5577840" cy="1207008"/>
          </a:xfrm>
          <a:prstGeom prst="rect">
            <a:avLst/>
          </a:prstGeom>
          <a:solidFill>
            <a:srgbClr val="0A16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931920"/>
            <a:ext cx="55778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233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37083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Model Context Protocol. Standardises how agents call tools, access resources, and retrieve prompt templates. Supports mock servers in dev.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3931920"/>
            <a:ext cx="5577840" cy="1207008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931920"/>
            <a:ext cx="55778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0233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Compliance Engine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437083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policy bundles distributed to AARs. Evaluates rules at inference time. Flags violations, triggers approval gates, and writes audit trails.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5303520"/>
            <a:ext cx="5577840" cy="1207008"/>
          </a:xfrm>
          <a:prstGeom prst="rect">
            <a:avLst/>
          </a:prstGeom>
          <a:solidFill>
            <a:srgbClr val="0A16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5303520"/>
            <a:ext cx="55778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3949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Drizzle ORM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574243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store. All entities (agents, runs, contracts, evals, policies) are isolated by org_id. Drizzle provides type-safe schema and migrations.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0" y="5303520"/>
            <a:ext cx="5577840" cy="1207008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5303520"/>
            <a:ext cx="55778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53949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Engine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55080" y="574243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LLM input/output. Detects PII (names, SSNs, card numbers) via pattern matching. Masks before inference; rehydrates after for downstream consumers.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1556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single agent invocation flows through the entire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2176272"/>
          </a:xfrm>
          <a:prstGeom prst="roundRect">
            <a:avLst>
              <a:gd name="adj" fmla="val 4202"/>
            </a:avLst>
          </a:prstGeom>
          <a:solidFill>
            <a:srgbClr val="0A1628"/>
          </a:solidFill>
          <a:ln w="1524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990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011680" cy="27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92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Webhook, schedule, or UI action initiates an agent run. The API Gateway authenticates the caller and resolves the org_id.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17520" y="2377440"/>
            <a:ext cx="201168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246120" y="1325880"/>
            <a:ext cx="2743200" cy="2176272"/>
          </a:xfrm>
          <a:prstGeom prst="roundRect">
            <a:avLst>
              <a:gd name="adj" fmla="val 4202"/>
            </a:avLst>
          </a:prstGeom>
          <a:solidFill>
            <a:srgbClr val="0A1628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990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611880" y="1828800"/>
            <a:ext cx="20116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892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Pre-Check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2402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 loads the agent's policy bundle. Validates trigger permissions, data-access rights, and PII handling rules before execution begins.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9320" y="2377440"/>
            <a:ext cx="20116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6217920" y="1325880"/>
            <a:ext cx="2743200" cy="2176272"/>
          </a:xfrm>
          <a:prstGeom prst="roundRect">
            <a:avLst>
              <a:gd name="adj" fmla="val 4202"/>
            </a:avLst>
          </a:prstGeom>
          <a:solidFill>
            <a:srgbClr val="0A1628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3990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583680" y="1828800"/>
            <a:ext cx="2011680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892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22402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payload is scanned. Sensitive data (SSN, card numbers, names) is replaced with tokens. Masked payload is passed to the LLM.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61120" y="2377440"/>
            <a:ext cx="201168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9189720" y="1325880"/>
            <a:ext cx="2743200" cy="2176272"/>
          </a:xfrm>
          <a:prstGeom prst="roundRect">
            <a:avLst>
              <a:gd name="adj" fmla="val 4202"/>
            </a:avLst>
          </a:prstGeom>
          <a:solidFill>
            <a:srgbClr val="0A1628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720" y="13990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555480" y="1828800"/>
            <a:ext cx="20116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720" y="1892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0" y="22402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chosen LLM provider (OpenAI / Anthropic / Gemini) receives the masked prompt + retrieved knowledge context via the RAG layer.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794760"/>
            <a:ext cx="2743200" cy="2176272"/>
          </a:xfrm>
          <a:prstGeom prst="roundRect">
            <a:avLst>
              <a:gd name="adj" fmla="val 4202"/>
            </a:avLst>
          </a:prstGeom>
          <a:solidFill>
            <a:srgbClr val="0A1628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8679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201168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361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MCP Call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" y="47091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calls a tool, MCP layer routes to the correct server (Salesforce, ServiceNow, Jira, etc.) and returns structured results.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17520" y="4846320"/>
            <a:ext cx="201168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3246120" y="3794760"/>
            <a:ext cx="2743200" cy="2176272"/>
          </a:xfrm>
          <a:prstGeom prst="roundRect">
            <a:avLst>
              <a:gd name="adj" fmla="val 4202"/>
            </a:avLst>
          </a:prstGeom>
          <a:solidFill>
            <a:srgbClr val="0A1628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38679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3611880" y="4297680"/>
            <a:ext cx="2011680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4361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Rehydration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83280" y="47091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 is intercepted. Tokens are replaced with original PII values for downstream consumers. Audit log records the masked form.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89320" y="4846320"/>
            <a:ext cx="201168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6217920" y="3794760"/>
            <a:ext cx="2743200" cy="2176272"/>
          </a:xfrm>
          <a:prstGeom prst="roundRect">
            <a:avLst>
              <a:gd name="adj" fmla="val 4202"/>
            </a:avLst>
          </a:prstGeom>
          <a:solidFill>
            <a:srgbClr val="0A1628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8679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6583680" y="4297680"/>
            <a:ext cx="20116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4361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Evaluation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55080" y="47091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 scores the response against the Outcome Contract KPIs. DeepEval service computes AI quality metrics asynchronously.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961120" y="484632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9189720" y="3794760"/>
            <a:ext cx="2743200" cy="2176272"/>
          </a:xfrm>
          <a:prstGeom prst="roundRect">
            <a:avLst>
              <a:gd name="adj" fmla="val 4202"/>
            </a:avLst>
          </a:prstGeom>
          <a:solidFill>
            <a:srgbClr val="0A1628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89720" y="38679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9555480" y="4297680"/>
            <a:ext cx="201168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9720" y="4361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Telemetry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326880" y="47091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trace is persisted: inputs, outputs, tool calls, policy decisions, KPI deltas, latency, and cost. Available in the Monitoring dashboard.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1430000" y="2377440"/>
            <a:ext cx="0" cy="59436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1556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 between components during agent execution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45720" cy="4114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96596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965960"/>
            <a:ext cx="4572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78892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788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 Sidecar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788920"/>
            <a:ext cx="457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361188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Engine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611880"/>
            <a:ext cx="457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443484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4434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4434840"/>
            <a:ext cx="4572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525780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5257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Layer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5257800"/>
            <a:ext cx="457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594360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5943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5943600"/>
            <a:ext cx="457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4560" y="1344168"/>
            <a:ext cx="8686800" cy="27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89920" y="1234440"/>
            <a:ext cx="182880" cy="2743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1389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HTTP Request + Auth Token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194560" y="2167128"/>
            <a:ext cx="86868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89920" y="2057400"/>
            <a:ext cx="18288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22128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Validate org_id, resolve agent config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194560" y="2990088"/>
            <a:ext cx="8686800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89920" y="2880360"/>
            <a:ext cx="18288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3035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Scan &amp; replace PII tokens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194560" y="3813048"/>
            <a:ext cx="868680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89920" y="3703320"/>
            <a:ext cx="182880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0" y="38587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Masked prompt + RAG context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194560" y="4636008"/>
            <a:ext cx="86868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789920" y="4526280"/>
            <a:ext cx="1828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46817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Tool call → external system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194560" y="5458968"/>
            <a:ext cx="86868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789920" y="5349240"/>
            <a:ext cx="1828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0" y="55046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Persist run trace + KPI delta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286000" y="5074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LLM response (rehydrated PII) returned up the chain to caller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0" y="6309360"/>
            <a:ext cx="5486400" cy="347472"/>
          </a:xfrm>
          <a:prstGeom prst="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0" y="6309360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Avg end-to-end latency target: &lt; 2s for standard runs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955280" y="6309360"/>
            <a:ext cx="3474720" cy="347472"/>
          </a:xfrm>
          <a:prstGeom prst="rect">
            <a:avLst/>
          </a:prstGeom>
          <a:solidFill>
            <a:srgbClr val="0F172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0" y="63093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PII never reaches LLM in plaintext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15568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Agent Invocation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Message-level interactions between components for a single run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78408" y="1307592"/>
            <a:ext cx="0" cy="5120640"/>
          </a:xfrm>
          <a:prstGeom prst="line">
            <a:avLst/>
          </a:prstGeom>
          <a:noFill/>
          <a:ln w="12700">
            <a:solidFill>
              <a:srgbClr val="1A56D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828800" y="96012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9601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2888" y="1307592"/>
            <a:ext cx="0" cy="512064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383280" y="96012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9601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87368" y="1307592"/>
            <a:ext cx="0" cy="512064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937760" y="96012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9601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Engine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41848" y="1307592"/>
            <a:ext cx="0" cy="5120640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492240" y="96012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9601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96328" y="1307592"/>
            <a:ext cx="0" cy="5120640"/>
          </a:xfrm>
          <a:prstGeom prst="line">
            <a:avLst/>
          </a:prstGeom>
          <a:noFill/>
          <a:ln w="12700">
            <a:solidFill>
              <a:srgbClr val="06B6D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046720" y="96012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9601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50808" y="1307592"/>
            <a:ext cx="0" cy="512064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601200" y="96012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9601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305288" y="1307592"/>
            <a:ext cx="0" cy="512064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78408" y="1673352"/>
            <a:ext cx="1554480" cy="0"/>
          </a:xfrm>
          <a:prstGeom prst="line">
            <a:avLst/>
          </a:prstGeom>
          <a:noFill/>
          <a:ln w="15240">
            <a:solidFill>
              <a:srgbClr val="1A56DB"/>
            </a:solidFill>
            <a:prstDash val="solid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1069848" y="149047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/api/runs  {agentId, input}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2532888" y="2039112"/>
            <a:ext cx="1554480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2624328" y="185623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loadPolicyBundle(agentId)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4087368" y="2267712"/>
            <a:ext cx="457200" cy="274320"/>
          </a:xfrm>
          <a:prstGeom prst="rect">
            <a:avLst/>
          </a:prstGeom>
          <a:solidFill>
            <a:srgbClr val="0F172A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checkPermissions()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087368" y="2770632"/>
            <a:ext cx="155448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4178808" y="2587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mask(input)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087368" y="3136392"/>
            <a:ext cx="1554480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tailEnd type="arrow"/>
          </a:ln>
        </p:spPr>
      </p:sp>
      <p:sp>
        <p:nvSpPr>
          <p:cNvPr id="35" name="Text 33"/>
          <p:cNvSpPr/>
          <p:nvPr/>
        </p:nvSpPr>
        <p:spPr>
          <a:xfrm>
            <a:off x="4087368" y="295351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maskedInput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087368" y="3502152"/>
            <a:ext cx="310896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arrow"/>
          </a:ln>
        </p:spPr>
      </p:sp>
      <p:sp>
        <p:nvSpPr>
          <p:cNvPr id="37" name="Text 35"/>
          <p:cNvSpPr/>
          <p:nvPr/>
        </p:nvSpPr>
        <p:spPr>
          <a:xfrm>
            <a:off x="4178808" y="331927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complete(maskedPrompt + context)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7196328" y="3867912"/>
            <a:ext cx="1554480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arrow"/>
          </a:ln>
        </p:spPr>
      </p:sp>
      <p:sp>
        <p:nvSpPr>
          <p:cNvPr id="39" name="Text 37"/>
          <p:cNvSpPr/>
          <p:nvPr/>
        </p:nvSpPr>
        <p:spPr>
          <a:xfrm>
            <a:off x="7287768" y="368503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callTool(name, args)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7196328" y="4233672"/>
            <a:ext cx="155448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arrow"/>
          </a:ln>
        </p:spPr>
      </p:sp>
      <p:sp>
        <p:nvSpPr>
          <p:cNvPr id="41" name="Text 39"/>
          <p:cNvSpPr/>
          <p:nvPr/>
        </p:nvSpPr>
        <p:spPr>
          <a:xfrm>
            <a:off x="7196328" y="40507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toolResult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4087368" y="4599432"/>
            <a:ext cx="3108960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arrow"/>
          </a:ln>
        </p:spPr>
      </p:sp>
      <p:sp>
        <p:nvSpPr>
          <p:cNvPr id="43" name="Text 41"/>
          <p:cNvSpPr/>
          <p:nvPr/>
        </p:nvSpPr>
        <p:spPr>
          <a:xfrm>
            <a:off x="4087368" y="44165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llmOutput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087368" y="4965192"/>
            <a:ext cx="155448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arrow"/>
          </a:ln>
        </p:spPr>
      </p:sp>
      <p:sp>
        <p:nvSpPr>
          <p:cNvPr id="45" name="Text 43"/>
          <p:cNvSpPr/>
          <p:nvPr/>
        </p:nvSpPr>
        <p:spPr>
          <a:xfrm>
            <a:off x="4178808" y="478231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rehydrate(output)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4087368" y="5330952"/>
            <a:ext cx="1554480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tailEnd type="arrow"/>
          </a:ln>
        </p:spPr>
      </p:sp>
      <p:sp>
        <p:nvSpPr>
          <p:cNvPr id="47" name="Text 45"/>
          <p:cNvSpPr/>
          <p:nvPr/>
        </p:nvSpPr>
        <p:spPr>
          <a:xfrm>
            <a:off x="4087368" y="514807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finalOutput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087368" y="5696712"/>
            <a:ext cx="621792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arrow"/>
          </a:ln>
        </p:spPr>
      </p:sp>
      <p:sp>
        <p:nvSpPr>
          <p:cNvPr id="49" name="Text 47"/>
          <p:cNvSpPr/>
          <p:nvPr/>
        </p:nvSpPr>
        <p:spPr>
          <a:xfrm>
            <a:off x="4178808" y="5513832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insertRunTrace()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4087368" y="6062472"/>
            <a:ext cx="621792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arrow"/>
          </a:ln>
        </p:spPr>
      </p:sp>
      <p:sp>
        <p:nvSpPr>
          <p:cNvPr id="51" name="Text 49"/>
          <p:cNvSpPr/>
          <p:nvPr/>
        </p:nvSpPr>
        <p:spPr>
          <a:xfrm>
            <a:off x="4087368" y="5879592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978408" y="6428232"/>
            <a:ext cx="3108960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  <a:tailEnd type="arrow"/>
          </a:ln>
        </p:spPr>
      </p:sp>
      <p:sp>
        <p:nvSpPr>
          <p:cNvPr id="53" name="Text 51"/>
          <p:cNvSpPr/>
          <p:nvPr/>
        </p:nvSpPr>
        <p:spPr>
          <a:xfrm>
            <a:off x="978408" y="62453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{result}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1556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frameworks, and tools powering Atlas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749040" cy="2286000"/>
          </a:xfrm>
          <a:prstGeom prst="rect">
            <a:avLst/>
          </a:prstGeom>
          <a:solidFill>
            <a:srgbClr val="0A1628"/>
          </a:solidFill>
          <a:ln w="1524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374904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18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8366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TypeScript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Tailwind CSS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968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shadcn/ui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TanStack Query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0723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Wouter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Recharts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79392" y="1234440"/>
            <a:ext cx="3749040" cy="2286000"/>
          </a:xfrm>
          <a:prstGeom prst="rect">
            <a:avLst/>
          </a:prstGeom>
          <a:solidFill>
            <a:srgbClr val="0A1628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79392" y="1234440"/>
            <a:ext cx="374904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16552" y="1234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16552" y="16459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Node.js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16552" y="188366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Express.js 4.x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16552" y="212140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TypeScript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16552" y="23591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Zod (validation)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16552" y="25968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Drizzle ORM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16552" y="28346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drizzle-zod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38744" y="1234440"/>
            <a:ext cx="3749040" cy="2286000"/>
          </a:xfrm>
          <a:prstGeom prst="rect">
            <a:avLst/>
          </a:prstGeom>
          <a:solidFill>
            <a:srgbClr val="0A1628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38744" y="1234440"/>
            <a:ext cx="37490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75904" y="1234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75904" y="16459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PostgreSQL 16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75904" y="188366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Drizzle ORM (type-safe)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75904" y="212140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Vector extensions (RAG)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75904" y="23591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Org-scoped multi-tenant schema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749040"/>
            <a:ext cx="3749040" cy="2286000"/>
          </a:xfrm>
          <a:prstGeom prst="rect">
            <a:avLst/>
          </a:prstGeom>
          <a:solidFill>
            <a:srgbClr val="0A1628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749040"/>
            <a:ext cx="374904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749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1605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OpenAI GPT-4.1 / GPT-4o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39826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Anthropic Claude 3.5 / 4.5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63600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Google Gemini 2.5 Pro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8737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Replit AI Integration Gateway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79392" y="3749040"/>
            <a:ext cx="3749040" cy="2286000"/>
          </a:xfrm>
          <a:prstGeom prst="rect">
            <a:avLst/>
          </a:prstGeom>
          <a:solidFill>
            <a:srgbClr val="0A1628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79392" y="3749040"/>
            <a:ext cx="37490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16552" y="3749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416552" y="41605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3.12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16552" y="439826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FastAPI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416552" y="463600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DeepEval library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416552" y="48737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Uvicorn ASGI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38744" y="3749040"/>
            <a:ext cx="3749040" cy="2286000"/>
          </a:xfrm>
          <a:prstGeom prst="rect">
            <a:avLst/>
          </a:prstGeom>
          <a:solidFill>
            <a:srgbClr val="0A1628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38744" y="3749040"/>
            <a:ext cx="37490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75904" y="3749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375904" y="41605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Model Context Protocol (MCP)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75904" y="439826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REST / JSON API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375904" y="463600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Webhooks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375904" y="48737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LFS (Git Large File Storage)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155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protection baked into every agent interaction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5577840" cy="1600200"/>
          </a:xfrm>
          <a:prstGeom prst="rect">
            <a:avLst/>
          </a:prstGeom>
          <a:solidFill>
            <a:srgbClr val="0A1628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54864" cy="1600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0759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Multi-Tenancy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Session-secret based auth with org_id scoping on every DB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2082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API routes validate organization membership before data access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6829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Separate environments (Dev/Staging/Prod) per tenant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5577840" cy="1600200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234440"/>
            <a:ext cx="54864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30759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&amp; AAR Sidecar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55080" y="16733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Policy bundles compiled and distributed to each AAR at deploy 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202082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Rules evaluated locally — no round-trip to central server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236829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Violations trigger approval gates or automatic rollback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5577840" cy="1600200"/>
          </a:xfrm>
          <a:prstGeom prst="rect">
            <a:avLst/>
          </a:prstGeom>
          <a:solidFill>
            <a:srgbClr val="0A16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17520"/>
            <a:ext cx="54864" cy="1600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906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&amp; Data Protection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4564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Pattern-based detection of SSNs, card numbers, names, DOBs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80390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PII replaced with deterministic tokens before LLM sees the data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15137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Rehydration happens post-inference; masked form stored in audit log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5577840" cy="1600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017520"/>
            <a:ext cx="54864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0906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Compliance Logging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55080" y="34564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policy decision, tool call, and LLM interaction is logged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80390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Immutable audit events with timestamp, org_id, agent_id, actor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415137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audit replay available for compliance investigations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800600"/>
            <a:ext cx="5577840" cy="1600200"/>
          </a:xfrm>
          <a:prstGeom prst="rect">
            <a:avLst/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800600"/>
            <a:ext cx="54864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7375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&amp; Human-in-the-Loop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52395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High-risk actions (prod deploy, PII access) require expert sign-off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558698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Approval workflows tracked end-to-end with timeout escalation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593445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Expert Validator role can approve, reject, or annotate runs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4800600"/>
            <a:ext cx="5577840" cy="160020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4800600"/>
            <a:ext cx="54864" cy="1600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487375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Security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355080" y="52395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API keys managed via Replit Secrets — never in source code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558698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Circuit breakers prevent cascade failures across providers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55080" y="593445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Per-agent provider selection with usage quotas and cost tracking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1556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Resilience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Atlas stays reliable under load and recovers from failures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749040" cy="21945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476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Layer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313432"/>
            <a:ext cx="2834640" cy="27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04872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backend is stateless — horizontal scaling is straightforward. Session state is stored in the database, not in-memory.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79392" y="1234440"/>
            <a:ext cx="3749040" cy="2194560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16552" y="19476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36592" y="2313432"/>
            <a:ext cx="283464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6552" y="2404872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calls have built-in circuit breakers. If a provider degrades, Atlas falls back to a secondary LLM automatically.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38744" y="1234440"/>
            <a:ext cx="3749040" cy="2194560"/>
          </a:xfrm>
          <a:prstGeom prst="rect">
            <a:avLst/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🐤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75904" y="19476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Deployments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95944" y="2313432"/>
            <a:ext cx="283464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2404872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agent versions receive 1% → 10% → 100% traffic. KPI threshold breach triggers automatic rollback to the previous version.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657600"/>
            <a:ext cx="3749040" cy="2194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794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" y="43708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Resilience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4736592"/>
            <a:ext cx="283464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28032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Drizzle ORM migrations. Org-level data isolation prevents blast radius from cross-tenant failures.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79392" y="3657600"/>
            <a:ext cx="3749040" cy="2194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3794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416552" y="43708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Loop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36592" y="4736592"/>
            <a:ext cx="28346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16552" y="4828032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detects KPI regressions and triggers the Optimization / Patch Center which can autonomously propose and deploy patches.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38744" y="3657600"/>
            <a:ext cx="3749040" cy="219456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38744" y="3794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375904" y="43708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Eval Pipeline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695944" y="4736592"/>
            <a:ext cx="283464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75904" y="4828032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scoring runs asynchronously — it never blocks the critical agent response path. Results are backfilled into the run trace.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1556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 into agent performance, cost, and business outcomes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303520" cy="5120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Atlas Collects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Run traces — full input/output history per agent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KPI deltas — contract outcome progress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79806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Latency per stage (LLM, tool, policy check)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32841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LLM token usage &amp; cost per run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8587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Policy violation counts &amp; approval queue length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Eval scores (Faithfulness, Hallucination…)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9194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Error rates and circuit-breaker state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54498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PII masking events and audit log entries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1188720"/>
            <a:ext cx="5943600" cy="5120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28016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1737360"/>
            <a:ext cx="45720" cy="7315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7647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Monitoring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0574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 progress, run health, error rates, and regression alerts for all deployed agents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2651760"/>
            <a:ext cx="4572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6791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Studio Home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29718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 pass/fail rates, eval cost sparklines, and regression trend over time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0" y="3566160"/>
            <a:ext cx="45720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5935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Viewer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38862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Span-level drill-down into every step of an agent run — LLM calls, tool calls, policy decisions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4480560"/>
            <a:ext cx="4572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45079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 Log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48006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audit trail of all policy violations, approval decisions, and PII masking events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5394960"/>
            <a:ext cx="4572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5422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Usage Analytics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57150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token consumption, cost-per-run trend, and provider comparison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155680" cy="3657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Environments, release pipeline, and infrastructure topology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703320" cy="2560320"/>
          </a:xfrm>
          <a:prstGeom prst="rect">
            <a:avLst/>
          </a:prstGeom>
          <a:solidFill>
            <a:srgbClr val="0A162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37033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branches, mock MCP servers, seed data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3337560" cy="310896"/>
          </a:xfrm>
          <a:prstGeom prst="roundRect">
            <a:avLst>
              <a:gd name="adj" fmla="val 17647"/>
            </a:avLst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76272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3337560" cy="310896"/>
          </a:xfrm>
          <a:prstGeom prst="roundRect">
            <a:avLst>
              <a:gd name="adj" fmla="val 17647"/>
            </a:avLst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60320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Frontend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944368"/>
            <a:ext cx="3337560" cy="310896"/>
          </a:xfrm>
          <a:prstGeom prst="roundRect">
            <a:avLst>
              <a:gd name="adj" fmla="val 17647"/>
            </a:avLst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4436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Service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328416"/>
            <a:ext cx="3337560" cy="310896"/>
          </a:xfrm>
          <a:prstGeom prst="roundRect">
            <a:avLst>
              <a:gd name="adj" fmla="val 17647"/>
            </a:avLst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2841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51960" y="1234440"/>
            <a:ext cx="3703320" cy="2560320"/>
          </a:xfrm>
          <a:prstGeom prst="rect">
            <a:avLst/>
          </a:prstGeom>
          <a:solidFill>
            <a:srgbClr val="0A162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1234440"/>
            <a:ext cx="37033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123444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166420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tests, Shadow Replay, canary baseline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34840" y="2176272"/>
            <a:ext cx="3337560" cy="310896"/>
          </a:xfrm>
          <a:prstGeom prst="roundRect">
            <a:avLst>
              <a:gd name="adj" fmla="val 17647"/>
            </a:avLst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176272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34840" y="2560320"/>
            <a:ext cx="3337560" cy="310896"/>
          </a:xfrm>
          <a:prstGeom prst="roundRect">
            <a:avLst>
              <a:gd name="adj" fmla="val 17647"/>
            </a:avLst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560320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Frontend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34840" y="2944368"/>
            <a:ext cx="3337560" cy="310896"/>
          </a:xfrm>
          <a:prstGeom prst="roundRect">
            <a:avLst>
              <a:gd name="adj" fmla="val 17647"/>
            </a:avLst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294436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Service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34840" y="3328416"/>
            <a:ext cx="3337560" cy="310896"/>
          </a:xfrm>
          <a:prstGeom prst="roundRect">
            <a:avLst>
              <a:gd name="adj" fmla="val 17647"/>
            </a:avLst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332841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83880" y="1234440"/>
            <a:ext cx="3703320" cy="2560320"/>
          </a:xfrm>
          <a:prstGeom prst="rect">
            <a:avLst/>
          </a:prstGeom>
          <a:solidFill>
            <a:srgbClr val="0A16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1234440"/>
            <a:ext cx="37033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123444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1040" y="166420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traffic, canary rollout, real integrations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366760" y="2176272"/>
            <a:ext cx="3337560" cy="310896"/>
          </a:xfrm>
          <a:prstGeom prst="roundRect">
            <a:avLst>
              <a:gd name="adj" fmla="val 17647"/>
            </a:avLst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2176272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366760" y="2560320"/>
            <a:ext cx="3337560" cy="310896"/>
          </a:xfrm>
          <a:prstGeom prst="roundRect">
            <a:avLst>
              <a:gd name="adj" fmla="val 17647"/>
            </a:avLst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2560320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Frontend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366760" y="2944368"/>
            <a:ext cx="3337560" cy="310896"/>
          </a:xfrm>
          <a:prstGeom prst="roundRect">
            <a:avLst>
              <a:gd name="adj" fmla="val 17647"/>
            </a:avLst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6760" y="294436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Service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366760" y="3328416"/>
            <a:ext cx="3337560" cy="310896"/>
          </a:xfrm>
          <a:prstGeom prst="roundRect">
            <a:avLst>
              <a:gd name="adj" fmla="val 17647"/>
            </a:avLst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66760" y="332841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DB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023360" y="2514600"/>
            <a:ext cx="201168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arrow"/>
          </a:ln>
        </p:spPr>
      </p:sp>
      <p:sp>
        <p:nvSpPr>
          <p:cNvPr id="42" name="Text 40"/>
          <p:cNvSpPr/>
          <p:nvPr/>
        </p:nvSpPr>
        <p:spPr>
          <a:xfrm>
            <a:off x="3886200" y="25786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955280" y="2514600"/>
            <a:ext cx="201168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arrow"/>
          </a:ln>
        </p:spPr>
      </p:sp>
      <p:sp>
        <p:nvSpPr>
          <p:cNvPr id="44" name="Text 42"/>
          <p:cNvSpPr/>
          <p:nvPr/>
        </p:nvSpPr>
        <p:spPr>
          <a:xfrm>
            <a:off x="7818120" y="25786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89788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Traffic Split Strategy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897880" y="42976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97880" y="4297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858000" y="42976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4297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818120" y="42976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18120" y="4297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778240" y="42976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78240" y="4297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897880" y="4846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Auto-rollback triggered if KPI drops below contract threshold at any stage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3931920"/>
            <a:ext cx="5303520" cy="214884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57200" y="44074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Replit-native hosting with auto-provisioned PostgreSQL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57200" y="46817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LFS-backed binary asset storage (278 MB+)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49560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Environment secrets (never in source code)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57200" y="52303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 branch strategy: replit-changes → main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7200" y="55046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Automated checkpoint commits on every deploy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57200" y="5779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External integrations via Replit Connector system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1556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Atlas connects to third-party systems via MCP and REST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0" y="2834640"/>
            <a:ext cx="2130552" cy="1005840"/>
          </a:xfrm>
          <a:prstGeom prst="roundRect">
            <a:avLst>
              <a:gd name="adj" fmla="val 5455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2834640"/>
            <a:ext cx="2130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54864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1536192"/>
            <a:ext cx="2651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65760" y="233172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317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54864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679192"/>
            <a:ext cx="2651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5760" y="347472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747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822192"/>
            <a:ext cx="2651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65760" y="461772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6177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Mgmt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54864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4965192"/>
            <a:ext cx="2651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601200" y="118872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11887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01200" y="118872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59752" y="1536192"/>
            <a:ext cx="244144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601200" y="233172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0" y="23317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601200" y="2331720"/>
            <a:ext cx="54864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9752" y="2679192"/>
            <a:ext cx="244144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9601200" y="347472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0" y="34747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Graph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601200" y="3474720"/>
            <a:ext cx="54864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59752" y="3822192"/>
            <a:ext cx="244144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9601200" y="461772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0" y="46177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601200" y="4617720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59752" y="4965192"/>
            <a:ext cx="244144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3200400" y="5303520"/>
            <a:ext cx="5788152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5394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 — Managed via Provider Registry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37560" y="576072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57607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GPT-4.1 / 4o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257800" y="576072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57800" y="57607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3.5 / 4.5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178040" y="576072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78040" y="57607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Pro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089904" y="5303520"/>
            <a:ext cx="0" cy="-146304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320040" y="6309360"/>
            <a:ext cx="6858000" cy="347472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6309360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All integrations route through MCP Layer — standardised tool schema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1556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— Change of Address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A credit union member updates their address via an AI agent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43000" y="1645920"/>
            <a:ext cx="0" cy="11887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965960" y="1453896"/>
            <a:ext cx="228600" cy="0"/>
          </a:xfrm>
          <a:prstGeom prst="line">
            <a:avLst/>
          </a:prstGeom>
          <a:noFill/>
          <a:ln w="15240">
            <a:solidFill>
              <a:srgbClr val="1A56DB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240280" y="1261872"/>
            <a:ext cx="9326880" cy="384048"/>
          </a:xfrm>
          <a:prstGeom prst="rect">
            <a:avLst/>
          </a:prstGeom>
          <a:solidFill>
            <a:srgbClr val="0A1A0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26187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new address via credit union web portal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764792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64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API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43000" y="2148840"/>
            <a:ext cx="0" cy="11887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965960" y="1956816"/>
            <a:ext cx="228600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2240280" y="1764792"/>
            <a:ext cx="9326880" cy="384048"/>
          </a:xfrm>
          <a:prstGeom prst="rect">
            <a:avLst/>
          </a:prstGeom>
          <a:solidFill>
            <a:srgbClr val="0A1A0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17647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received → agent 'COA-CreditUnion' resolved → run initiated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267712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2677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143000" y="2651760"/>
            <a:ext cx="0" cy="11887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965960" y="2459736"/>
            <a:ext cx="22860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2240280" y="2267712"/>
            <a:ext cx="9326880" cy="384048"/>
          </a:xfrm>
          <a:prstGeom prst="rect">
            <a:avLst/>
          </a:prstGeom>
          <a:solidFill>
            <a:srgbClr val="0A1A0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226771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check: address-change requires identity verification + BSA watchlist screening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770632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7706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Engine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143000" y="3154680"/>
            <a:ext cx="0" cy="11887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965960" y="2962656"/>
            <a:ext cx="228600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2240280" y="2770632"/>
            <a:ext cx="9326880" cy="384048"/>
          </a:xfrm>
          <a:prstGeom prst="rect">
            <a:avLst/>
          </a:prstGeom>
          <a:solidFill>
            <a:srgbClr val="0A1A0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277063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and DOB in payload masked before passing to LLM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273552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2735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143000" y="3657600"/>
            <a:ext cx="0" cy="11887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965960" y="3465576"/>
            <a:ext cx="228600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2240280" y="3273552"/>
            <a:ext cx="9326880" cy="384048"/>
          </a:xfrm>
          <a:prstGeom prst="rect">
            <a:avLst/>
          </a:prstGeom>
          <a:solidFill>
            <a:srgbClr val="0A1A0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7440" y="327355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extraction agent parses and normalises the new address from member input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776472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7764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143000" y="4160520"/>
            <a:ext cx="0" cy="11887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965960" y="3968496"/>
            <a:ext cx="22860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2240280" y="3776472"/>
            <a:ext cx="9326880" cy="384048"/>
          </a:xfrm>
          <a:prstGeom prst="rect">
            <a:avLst/>
          </a:prstGeom>
          <a:solidFill>
            <a:srgbClr val="0A1A0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0" y="377647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Address Validation API called → address confirmed deliverable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4279392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279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Skill: BSA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143000" y="4663440"/>
            <a:ext cx="0" cy="11887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1965960" y="4471416"/>
            <a:ext cx="2286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2240280" y="4279392"/>
            <a:ext cx="9326880" cy="384048"/>
          </a:xfrm>
          <a:prstGeom prst="rect">
            <a:avLst/>
          </a:prstGeom>
          <a:solidFill>
            <a:srgbClr val="0A1A0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0" y="42793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 Watchlist Screening skill invoked — member cleared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4782312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7823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Skill: Velocity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143000" y="5166360"/>
            <a:ext cx="0" cy="11887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1965960" y="4974336"/>
            <a:ext cx="2286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2240280" y="4782312"/>
            <a:ext cx="9326880" cy="384048"/>
          </a:xfrm>
          <a:prstGeom prst="rect">
            <a:avLst/>
          </a:prstGeom>
          <a:solidFill>
            <a:srgbClr val="0A1A0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0" y="478231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Risk Assessment checks for unusual address-change frequency — pass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5285232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52852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143000" y="5669280"/>
            <a:ext cx="0" cy="11887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1965960" y="5477256"/>
            <a:ext cx="22860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2240280" y="5285232"/>
            <a:ext cx="9326880" cy="384048"/>
          </a:xfrm>
          <a:prstGeom prst="rect">
            <a:avLst/>
          </a:prstGeom>
          <a:solidFill>
            <a:srgbClr val="0A1A0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77440" y="528523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updated in member record. Notification sent via Notification Manager skill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" y="5788152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57881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965960" y="5980176"/>
            <a:ext cx="2286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62" name="Shape 60"/>
          <p:cNvSpPr/>
          <p:nvPr/>
        </p:nvSpPr>
        <p:spPr>
          <a:xfrm>
            <a:off x="2240280" y="5788152"/>
            <a:ext cx="9326880" cy="384048"/>
          </a:xfrm>
          <a:prstGeom prst="rect">
            <a:avLst/>
          </a:prstGeom>
          <a:solidFill>
            <a:srgbClr val="0A1A0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77440" y="578815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 persisted: policy decisions, tool calls, PII events, KPI: ✅ Address Validated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1556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&amp;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Atlas is heading next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749040" cy="5120640"/>
          </a:xfrm>
          <a:prstGeom prst="rect">
            <a:avLst/>
          </a:prstGeom>
          <a:solidFill>
            <a:srgbClr val="0A1628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37490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Q3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Studio span-level trace drill-down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06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version diff overlay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29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synthesizer from Knowledge Base docs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2519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eval metrics in Conversation Simulator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507492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0749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alerts in monitoring dashboard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79392" y="1188720"/>
            <a:ext cx="3749040" cy="5120640"/>
          </a:xfrm>
          <a:prstGeom prst="rect">
            <a:avLst/>
          </a:prstGeom>
          <a:solidFill>
            <a:srgbClr val="0A1628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9392" y="1188720"/>
            <a:ext cx="374904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9392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16552" y="178308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7992" y="1783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multi-agent DAG visual editor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16552" y="260604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2606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cost sparklines on Eval Studio Home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16552" y="342900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3429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conflict warnings in deployment dialog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16552" y="425196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7992" y="42519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ontology concept editing UI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16552" y="507492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07992" y="50749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eval gate pass/fail to deployment blocking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38744" y="1188720"/>
            <a:ext cx="3749040" cy="5120640"/>
          </a:xfrm>
          <a:prstGeom prst="rect">
            <a:avLst/>
          </a:prstGeom>
          <a:solidFill>
            <a:srgbClr val="0A1628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38744" y="1188720"/>
            <a:ext cx="37490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38744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&amp; Beyond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75904" y="178308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67344" y="1783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/ Claude 4 provider upgrades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375904" y="260604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67344" y="2606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self-healing loop (Patch Center v2)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375904" y="342900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67344" y="3429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SSO &amp; RBAC overhaul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75904" y="425196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67344" y="42519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multi-cluster deployment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75904" y="507492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67344" y="50749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 on Blueprint Studio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54864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Business-Outcome Aligned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13075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is tied to a measurable Outcome Contract — not just functionality, but real KPIs.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First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26771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enforcement, PII masking, and audit trails are not add-ons — they're foundational.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8346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2278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Replay, canary deployments, and automated rollback mean agents are validated before users see them.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37947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3840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1879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token, tool call, policy decision, and KPI delta is captured and visualised in real time.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47548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🔌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48006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514807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connectors for Salesforce, ServiceNow, Jira, Slack, Snowflake, and more — plug in, not build from scratch.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" y="57150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5760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&amp; Extensible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61081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OpenAI, Anthropic, and Gemini per agent. Extend via MCP without touching platform code.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4572000" cy="4572000"/>
          </a:xfrm>
          <a:prstGeom prst="ellipse">
            <a:avLst/>
          </a:prstGeom>
          <a:solidFill>
            <a:srgbClr val="0D2045"/>
          </a:solidFill>
          <a:ln w="12700">
            <a:solidFill>
              <a:srgbClr val="0D20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320040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23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happy to deep-dive into any component.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Platform: ASTRA Agents — Atlas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2303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GitHub: github.com/swarupd227/Astra-Agents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61441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Deployed: atlas-agent-platform.replit.app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ASTRA Agents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Platform Architecture</dc:subject>
  <dc:creator>Atlas Platform</dc:creator>
  <cp:lastModifiedBy>Atlas Platform</cp:lastModifiedBy>
  <cp:revision>1</cp:revision>
  <dcterms:created xsi:type="dcterms:W3CDTF">2026-06-18T12:01:18Z</dcterms:created>
  <dcterms:modified xsi:type="dcterms:W3CDTF">2026-06-18T12:01:18Z</dcterms:modified>
</cp:coreProperties>
</file>